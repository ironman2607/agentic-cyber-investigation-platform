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6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753600" cy="7315200"/>
  <p:notesSz cx="6858000" cy="9144000"/>
  <p:embeddedFontLst>
    <p:embeddedFont>
      <p:font typeface="Oswald Bold" panose="00000800000000000000"/>
      <p:bold r:id="rId25"/>
    </p:embeddedFont>
    <p:embeddedFont>
      <p:font typeface="Oswald" panose="00000500000000000000"/>
      <p:regular r:id="rId26"/>
    </p:embeddedFont>
    <p:embeddedFont>
      <p:font typeface="Poppins" panose="00000500000000000000"/>
      <p:regular r:id="rId27"/>
    </p:embeddedFont>
    <p:embeddedFont>
      <p:font typeface="CanvaSansSC-Regular" charset="-128"/>
      <p:regular r:id="rId28"/>
    </p:embeddedFont>
    <p:embeddedFont>
      <p:font typeface="Canva Sans Bold" panose="020B0803030501040103"/>
      <p:bold r:id="rId29"/>
    </p:embeddedFont>
    <p:embeddedFont>
      <p:font typeface="Arimo" panose="020B0604020202020204"/>
      <p:regular r:id="rId30"/>
    </p:embeddedFont>
    <p:embeddedFont>
      <p:font typeface="Poppins Bold" panose="00000800000000000000"/>
      <p:bold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00"/>
        <p:guide pos="2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337510" cy="2771023"/>
            <a:chOff x="0" y="0"/>
            <a:chExt cx="1337513" cy="27710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7564" cy="2069079"/>
            </a:xfrm>
            <a:custGeom>
              <a:avLst/>
              <a:gdLst/>
              <a:ahLst/>
              <a:cxnLst/>
              <a:rect l="l" t="t" r="r" b="b"/>
              <a:pathLst>
                <a:path w="1337564" h="2069079">
                  <a:moveTo>
                    <a:pt x="0" y="0"/>
                  </a:moveTo>
                  <a:lnTo>
                    <a:pt x="0" y="2069079"/>
                  </a:lnTo>
                  <a:lnTo>
                    <a:pt x="1337564" y="731518"/>
                  </a:lnTo>
                  <a:lnTo>
                    <a:pt x="606044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1586341" y="-63503"/>
            <a:ext cx="8233801" cy="7445245"/>
            <a:chOff x="0" y="0"/>
            <a:chExt cx="8233804" cy="7445248"/>
          </a:xfrm>
        </p:grpSpPr>
        <p:sp>
          <p:nvSpPr>
            <p:cNvPr id="5" name="Freeform 5"/>
            <p:cNvSpPr/>
            <p:nvPr/>
          </p:nvSpPr>
          <p:spPr>
            <a:xfrm>
              <a:off x="5396230" y="2568194"/>
              <a:ext cx="2771012" cy="4078986"/>
            </a:xfrm>
            <a:custGeom>
              <a:avLst/>
              <a:gdLst/>
              <a:ahLst/>
              <a:cxnLst/>
              <a:rect l="l" t="t" r="r" b="b"/>
              <a:pathLst>
                <a:path w="2771012" h="4078986">
                  <a:moveTo>
                    <a:pt x="2039492" y="0"/>
                  </a:moveTo>
                  <a:lnTo>
                    <a:pt x="0" y="2039493"/>
                  </a:lnTo>
                  <a:lnTo>
                    <a:pt x="2039492" y="4078986"/>
                  </a:lnTo>
                  <a:lnTo>
                    <a:pt x="2771012" y="3347466"/>
                  </a:lnTo>
                  <a:lnTo>
                    <a:pt x="2771012" y="731520"/>
                  </a:lnTo>
                  <a:lnTo>
                    <a:pt x="2039492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189090" y="6278372"/>
              <a:ext cx="1978153" cy="1100328"/>
            </a:xfrm>
            <a:custGeom>
              <a:avLst/>
              <a:gdLst/>
              <a:ahLst/>
              <a:cxnLst/>
              <a:rect l="l" t="t" r="r" b="b"/>
              <a:pathLst>
                <a:path w="1978153" h="1100328">
                  <a:moveTo>
                    <a:pt x="1008253" y="0"/>
                  </a:moveTo>
                  <a:lnTo>
                    <a:pt x="0" y="1100328"/>
                  </a:lnTo>
                  <a:lnTo>
                    <a:pt x="1978153" y="1100328"/>
                  </a:lnTo>
                  <a:lnTo>
                    <a:pt x="1978153" y="1058545"/>
                  </a:lnTo>
                  <a:lnTo>
                    <a:pt x="1008254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593839" y="6282944"/>
              <a:ext cx="1573402" cy="1095756"/>
            </a:xfrm>
            <a:custGeom>
              <a:avLst/>
              <a:gdLst/>
              <a:ahLst/>
              <a:cxnLst/>
              <a:rect l="l" t="t" r="r" b="b"/>
              <a:pathLst>
                <a:path w="1573402" h="1095756">
                  <a:moveTo>
                    <a:pt x="607442" y="0"/>
                  </a:moveTo>
                  <a:lnTo>
                    <a:pt x="0" y="663067"/>
                  </a:lnTo>
                  <a:lnTo>
                    <a:pt x="387731" y="1095756"/>
                  </a:lnTo>
                  <a:lnTo>
                    <a:pt x="1573403" y="1095756"/>
                  </a:lnTo>
                  <a:lnTo>
                    <a:pt x="1573403" y="1053973"/>
                  </a:lnTo>
                  <a:lnTo>
                    <a:pt x="607441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5738621" y="5544058"/>
              <a:ext cx="2428494" cy="1834642"/>
            </a:xfrm>
            <a:custGeom>
              <a:avLst/>
              <a:gdLst/>
              <a:ahLst/>
              <a:cxnLst/>
              <a:rect l="l" t="t" r="r" b="b"/>
              <a:pathLst>
                <a:path w="2428494" h="1834642">
                  <a:moveTo>
                    <a:pt x="1680972" y="0"/>
                  </a:moveTo>
                  <a:lnTo>
                    <a:pt x="0" y="1834642"/>
                  </a:lnTo>
                  <a:lnTo>
                    <a:pt x="454279" y="1834642"/>
                  </a:lnTo>
                  <a:lnTo>
                    <a:pt x="1683004" y="498348"/>
                  </a:lnTo>
                  <a:lnTo>
                    <a:pt x="2428494" y="1311783"/>
                  </a:lnTo>
                  <a:lnTo>
                    <a:pt x="2428494" y="811022"/>
                  </a:lnTo>
                  <a:lnTo>
                    <a:pt x="1685163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4128770" y="65151"/>
              <a:ext cx="3379215" cy="2935986"/>
            </a:xfrm>
            <a:custGeom>
              <a:avLst/>
              <a:gdLst/>
              <a:ahLst/>
              <a:cxnLst/>
              <a:rect l="l" t="t" r="r" b="b"/>
              <a:pathLst>
                <a:path w="3379215" h="2935986">
                  <a:moveTo>
                    <a:pt x="0" y="0"/>
                  </a:moveTo>
                  <a:lnTo>
                    <a:pt x="889762" y="0"/>
                  </a:lnTo>
                  <a:lnTo>
                    <a:pt x="2086101" y="1197102"/>
                  </a:lnTo>
                  <a:lnTo>
                    <a:pt x="2907411" y="2018792"/>
                  </a:lnTo>
                  <a:lnTo>
                    <a:pt x="3379215" y="2490851"/>
                  </a:lnTo>
                  <a:lnTo>
                    <a:pt x="3235578" y="2634488"/>
                  </a:lnTo>
                  <a:lnTo>
                    <a:pt x="2934335" y="2935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425183" y="489077"/>
              <a:ext cx="1738122" cy="2184146"/>
            </a:xfrm>
            <a:custGeom>
              <a:avLst/>
              <a:gdLst/>
              <a:ahLst/>
              <a:cxnLst/>
              <a:rect l="l" t="t" r="r" b="b"/>
              <a:pathLst>
                <a:path w="1738122" h="2184146">
                  <a:moveTo>
                    <a:pt x="444881" y="0"/>
                  </a:moveTo>
                  <a:lnTo>
                    <a:pt x="96901" y="348234"/>
                  </a:lnTo>
                  <a:lnTo>
                    <a:pt x="0" y="445135"/>
                  </a:lnTo>
                  <a:lnTo>
                    <a:pt x="880110" y="1325753"/>
                  </a:lnTo>
                  <a:lnTo>
                    <a:pt x="1738122" y="2184146"/>
                  </a:lnTo>
                  <a:lnTo>
                    <a:pt x="1738122" y="1293876"/>
                  </a:lnTo>
                  <a:lnTo>
                    <a:pt x="444881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071234" y="1227074"/>
              <a:ext cx="2091944" cy="2272030"/>
            </a:xfrm>
            <a:custGeom>
              <a:avLst/>
              <a:gdLst/>
              <a:ahLst/>
              <a:cxnLst/>
              <a:rect l="l" t="t" r="r" b="b"/>
              <a:pathLst>
                <a:path w="2091944" h="2272030">
                  <a:moveTo>
                    <a:pt x="178816" y="0"/>
                  </a:moveTo>
                  <a:lnTo>
                    <a:pt x="143637" y="35179"/>
                  </a:lnTo>
                  <a:lnTo>
                    <a:pt x="64643" y="114173"/>
                  </a:lnTo>
                  <a:lnTo>
                    <a:pt x="0" y="178816"/>
                  </a:lnTo>
                  <a:lnTo>
                    <a:pt x="2091944" y="2272030"/>
                  </a:lnTo>
                  <a:lnTo>
                    <a:pt x="2091944" y="1914271"/>
                  </a:lnTo>
                  <a:lnTo>
                    <a:pt x="1000125" y="821817"/>
                  </a:lnTo>
                  <a:lnTo>
                    <a:pt x="178816" y="127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304658" y="65151"/>
              <a:ext cx="858520" cy="859028"/>
            </a:xfrm>
            <a:custGeom>
              <a:avLst/>
              <a:gdLst/>
              <a:ahLst/>
              <a:cxnLst/>
              <a:rect l="l" t="t" r="r" b="b"/>
              <a:pathLst>
                <a:path w="858520" h="859028">
                  <a:moveTo>
                    <a:pt x="0" y="0"/>
                  </a:moveTo>
                  <a:lnTo>
                    <a:pt x="858520" y="859028"/>
                  </a:lnTo>
                  <a:lnTo>
                    <a:pt x="858520" y="501269"/>
                  </a:lnTo>
                  <a:lnTo>
                    <a:pt x="357632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4860544" y="65151"/>
              <a:ext cx="2541650" cy="2098040"/>
            </a:xfrm>
            <a:custGeom>
              <a:avLst/>
              <a:gdLst/>
              <a:ahLst/>
              <a:cxnLst/>
              <a:rect l="l" t="t" r="r" b="b"/>
              <a:pathLst>
                <a:path w="2541650" h="2098040">
                  <a:moveTo>
                    <a:pt x="0" y="0"/>
                  </a:moveTo>
                  <a:lnTo>
                    <a:pt x="889761" y="0"/>
                  </a:lnTo>
                  <a:lnTo>
                    <a:pt x="1661540" y="772160"/>
                  </a:lnTo>
                  <a:lnTo>
                    <a:pt x="2541650" y="1652778"/>
                  </a:lnTo>
                  <a:lnTo>
                    <a:pt x="2444750" y="1749679"/>
                  </a:lnTo>
                  <a:lnTo>
                    <a:pt x="2210942" y="1983740"/>
                  </a:lnTo>
                  <a:lnTo>
                    <a:pt x="2175763" y="2018919"/>
                  </a:lnTo>
                  <a:lnTo>
                    <a:pt x="2096642" y="2098040"/>
                  </a:lnTo>
                  <a:lnTo>
                    <a:pt x="1275333" y="1276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760336" y="65151"/>
              <a:ext cx="1402842" cy="1403858"/>
            </a:xfrm>
            <a:custGeom>
              <a:avLst/>
              <a:gdLst/>
              <a:ahLst/>
              <a:cxnLst/>
              <a:rect l="l" t="t" r="r" b="b"/>
              <a:pathLst>
                <a:path w="1402842" h="1403858">
                  <a:moveTo>
                    <a:pt x="0" y="0"/>
                  </a:moveTo>
                  <a:lnTo>
                    <a:pt x="1402842" y="1403858"/>
                  </a:lnTo>
                  <a:lnTo>
                    <a:pt x="1402842" y="737997"/>
                  </a:lnTo>
                  <a:lnTo>
                    <a:pt x="665353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63500" y="5966079"/>
              <a:ext cx="5331840" cy="681101"/>
            </a:xfrm>
            <a:custGeom>
              <a:avLst/>
              <a:gdLst/>
              <a:ahLst/>
              <a:cxnLst/>
              <a:rect l="l" t="t" r="r" b="b"/>
              <a:pathLst>
                <a:path w="5331840" h="681101">
                  <a:moveTo>
                    <a:pt x="0" y="0"/>
                  </a:moveTo>
                  <a:lnTo>
                    <a:pt x="0" y="681101"/>
                  </a:lnTo>
                  <a:lnTo>
                    <a:pt x="5331840" y="681101"/>
                  </a:lnTo>
                  <a:lnTo>
                    <a:pt x="533184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124578" y="63500"/>
              <a:ext cx="4042664" cy="3439922"/>
            </a:xfrm>
            <a:custGeom>
              <a:avLst/>
              <a:gdLst/>
              <a:ahLst/>
              <a:cxnLst/>
              <a:rect l="l" t="t" r="r" b="b"/>
              <a:pathLst>
                <a:path w="4042664" h="3439922">
                  <a:moveTo>
                    <a:pt x="0" y="0"/>
                  </a:moveTo>
                  <a:lnTo>
                    <a:pt x="0" y="3439922"/>
                  </a:lnTo>
                  <a:lnTo>
                    <a:pt x="4042665" y="3439922"/>
                  </a:lnTo>
                  <a:lnTo>
                    <a:pt x="404266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4731893" y="5542280"/>
              <a:ext cx="3435350" cy="1836420"/>
            </a:xfrm>
            <a:custGeom>
              <a:avLst/>
              <a:gdLst/>
              <a:ahLst/>
              <a:cxnLst/>
              <a:rect l="l" t="t" r="r" b="b"/>
              <a:pathLst>
                <a:path w="3435350" h="1836420">
                  <a:moveTo>
                    <a:pt x="0" y="0"/>
                  </a:moveTo>
                  <a:lnTo>
                    <a:pt x="0" y="1836420"/>
                  </a:lnTo>
                  <a:lnTo>
                    <a:pt x="3435350" y="1836420"/>
                  </a:lnTo>
                  <a:lnTo>
                    <a:pt x="34353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71694" y="609600"/>
            <a:ext cx="5431631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AI-AGENTIC CYBER</a:t>
            </a:r>
            <a:endParaRPr lang="en-US" sz="48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519474" y="3082840"/>
            <a:ext cx="2666171" cy="246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</a:pPr>
            <a:r>
              <a:rPr lang="en-US" sz="24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Presented By : </a:t>
            </a:r>
            <a:endParaRPr lang="en-US" sz="2400">
              <a:solidFill>
                <a:srgbClr val="262262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  <a:p>
            <a:pPr algn="ctr">
              <a:lnSpc>
                <a:spcPts val="3075"/>
              </a:lnSpc>
            </a:pPr>
            <a:r>
              <a:rPr lang="en-US" sz="220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Atharv Kumbhar Angad Mistry Pooja Mahale Pradnyesh Mhatre </a:t>
            </a:r>
            <a:endParaRPr lang="en-US" sz="220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01206" y="5936161"/>
            <a:ext cx="5130527" cy="48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Guide Name : Dr. Vanitha Soman </a:t>
            </a:r>
            <a:endParaRPr lang="en-US" sz="2500">
              <a:solidFill>
                <a:srgbClr val="FFFFFF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74" y="1475058"/>
            <a:ext cx="7556302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48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INVESTIGATIONPLATFORM</a:t>
            </a:r>
            <a:endParaRPr lang="en-US" sz="48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077682" y="0"/>
            <a:ext cx="4675918" cy="7315200"/>
            <a:chOff x="0" y="0"/>
            <a:chExt cx="6234557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34557" cy="9753600"/>
            </a:xfrm>
            <a:custGeom>
              <a:avLst/>
              <a:gdLst/>
              <a:ahLst/>
              <a:cxnLst/>
              <a:rect l="l" t="t" r="r" b="b"/>
              <a:pathLst>
                <a:path w="6234557" h="9753600">
                  <a:moveTo>
                    <a:pt x="2001520" y="0"/>
                  </a:moveTo>
                  <a:lnTo>
                    <a:pt x="0" y="9753600"/>
                  </a:lnTo>
                  <a:lnTo>
                    <a:pt x="6234557" y="9753600"/>
                  </a:lnTo>
                  <a:lnTo>
                    <a:pt x="6234557" y="0"/>
                  </a:lnTo>
                  <a:close/>
                </a:path>
              </a:pathLst>
            </a:custGeom>
            <a:blipFill>
              <a:blip r:embed="rId1"/>
              <a:stretch>
                <a:fillRect l="-55109" r="-122468" b="-1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2368122"/>
            <a:ext cx="9022080" cy="4144454"/>
            <a:chOff x="0" y="0"/>
            <a:chExt cx="8803068" cy="404384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7323833" cy="3916802"/>
            </a:xfrm>
            <a:custGeom>
              <a:avLst/>
              <a:gdLst/>
              <a:ahLst/>
              <a:cxnLst/>
              <a:rect l="l" t="t" r="r" b="b"/>
              <a:pathLst>
                <a:path w="7323833" h="3916802">
                  <a:moveTo>
                    <a:pt x="0" y="0"/>
                  </a:moveTo>
                  <a:lnTo>
                    <a:pt x="0" y="3916802"/>
                  </a:lnTo>
                  <a:lnTo>
                    <a:pt x="7323833" y="3916802"/>
                  </a:lnTo>
                  <a:lnTo>
                    <a:pt x="7323833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257796" y="63500"/>
              <a:ext cx="2481833" cy="3916675"/>
            </a:xfrm>
            <a:custGeom>
              <a:avLst/>
              <a:gdLst/>
              <a:ahLst/>
              <a:cxnLst/>
              <a:rect l="l" t="t" r="r" b="b"/>
              <a:pathLst>
                <a:path w="2481833" h="3916675">
                  <a:moveTo>
                    <a:pt x="620395" y="0"/>
                  </a:moveTo>
                  <a:lnTo>
                    <a:pt x="0" y="3916675"/>
                  </a:lnTo>
                  <a:lnTo>
                    <a:pt x="1861311" y="3916675"/>
                  </a:lnTo>
                  <a:lnTo>
                    <a:pt x="2481833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6522425" y="-66551"/>
            <a:ext cx="3297726" cy="2513533"/>
            <a:chOff x="0" y="0"/>
            <a:chExt cx="3297720" cy="2513533"/>
          </a:xfrm>
        </p:grpSpPr>
        <p:sp>
          <p:nvSpPr>
            <p:cNvPr id="8" name="Freeform 8"/>
            <p:cNvSpPr/>
            <p:nvPr/>
          </p:nvSpPr>
          <p:spPr>
            <a:xfrm>
              <a:off x="83693" y="66548"/>
              <a:ext cx="2997705" cy="1718309"/>
            </a:xfrm>
            <a:custGeom>
              <a:avLst/>
              <a:gdLst/>
              <a:ahLst/>
              <a:cxnLst/>
              <a:rect l="l" t="t" r="r" b="b"/>
              <a:pathLst>
                <a:path w="2997705" h="1718309">
                  <a:moveTo>
                    <a:pt x="0" y="0"/>
                  </a:moveTo>
                  <a:lnTo>
                    <a:pt x="1722118" y="1718309"/>
                  </a:lnTo>
                  <a:lnTo>
                    <a:pt x="2220593" y="1220977"/>
                  </a:lnTo>
                  <a:lnTo>
                    <a:pt x="2997705" y="445516"/>
                  </a:lnTo>
                  <a:lnTo>
                    <a:pt x="2551300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796667" y="66548"/>
              <a:ext cx="1434591" cy="2145664"/>
            </a:xfrm>
            <a:custGeom>
              <a:avLst/>
              <a:gdLst/>
              <a:ahLst/>
              <a:cxnLst/>
              <a:rect l="l" t="t" r="r" b="b"/>
              <a:pathLst>
                <a:path w="1434591" h="2145664">
                  <a:moveTo>
                    <a:pt x="715898" y="0"/>
                  </a:moveTo>
                  <a:lnTo>
                    <a:pt x="319278" y="395732"/>
                  </a:lnTo>
                  <a:lnTo>
                    <a:pt x="0" y="714374"/>
                  </a:lnTo>
                  <a:lnTo>
                    <a:pt x="507746" y="1220977"/>
                  </a:lnTo>
                  <a:lnTo>
                    <a:pt x="1434591" y="2145663"/>
                  </a:lnTo>
                  <a:lnTo>
                    <a:pt x="1434591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847724" y="66548"/>
              <a:ext cx="2383407" cy="2378073"/>
            </a:xfrm>
            <a:custGeom>
              <a:avLst/>
              <a:gdLst/>
              <a:ahLst/>
              <a:cxnLst/>
              <a:rect l="l" t="t" r="r" b="b"/>
              <a:pathLst>
                <a:path w="2383407" h="2378073">
                  <a:moveTo>
                    <a:pt x="0" y="0"/>
                  </a:moveTo>
                  <a:lnTo>
                    <a:pt x="1340103" y="1337055"/>
                  </a:lnTo>
                  <a:lnTo>
                    <a:pt x="2383407" y="2378073"/>
                  </a:lnTo>
                  <a:lnTo>
                    <a:pt x="2383407" y="1508378"/>
                  </a:lnTo>
                  <a:lnTo>
                    <a:pt x="871727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265551" y="643255"/>
              <a:ext cx="965580" cy="1164081"/>
            </a:xfrm>
            <a:custGeom>
              <a:avLst/>
              <a:gdLst/>
              <a:ahLst/>
              <a:cxnLst/>
              <a:rect l="l" t="t" r="r" b="b"/>
              <a:pathLst>
                <a:path w="965580" h="1164081">
                  <a:moveTo>
                    <a:pt x="201040" y="0"/>
                  </a:moveTo>
                  <a:lnTo>
                    <a:pt x="116458" y="84328"/>
                  </a:lnTo>
                  <a:lnTo>
                    <a:pt x="0" y="200659"/>
                  </a:lnTo>
                  <a:lnTo>
                    <a:pt x="241680" y="441705"/>
                  </a:lnTo>
                  <a:lnTo>
                    <a:pt x="965580" y="1164081"/>
                  </a:lnTo>
                  <a:lnTo>
                    <a:pt x="965580" y="762888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66548"/>
              <a:ext cx="3167631" cy="2383534"/>
            </a:xfrm>
            <a:custGeom>
              <a:avLst/>
              <a:gdLst/>
              <a:ahLst/>
              <a:cxnLst/>
              <a:rect l="l" t="t" r="r" b="b"/>
              <a:pathLst>
                <a:path w="3167631" h="2383534">
                  <a:moveTo>
                    <a:pt x="0" y="0"/>
                  </a:moveTo>
                  <a:lnTo>
                    <a:pt x="0" y="2383534"/>
                  </a:lnTo>
                  <a:lnTo>
                    <a:pt x="3167631" y="2383534"/>
                  </a:lnTo>
                  <a:lnTo>
                    <a:pt x="316763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31520" y="656262"/>
            <a:ext cx="3258922" cy="494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945"/>
              </a:lnSpc>
            </a:pPr>
            <a:r>
              <a:rPr lang="en-US" sz="72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Content </a:t>
            </a:r>
            <a:endParaRPr lang="en-US" sz="72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  <a:p>
            <a:pPr algn="just">
              <a:lnSpc>
                <a:spcPts val="5035"/>
              </a:lnSpc>
            </a:pPr>
          </a:p>
          <a:p>
            <a:pPr algn="just">
              <a:lnSpc>
                <a:spcPts val="5035"/>
              </a:lnSpc>
            </a:pPr>
          </a:p>
          <a:p>
            <a:pPr algn="just">
              <a:lnSpc>
                <a:spcPts val="5035"/>
              </a:lnSpc>
            </a:pPr>
          </a:p>
          <a:p>
            <a:pPr algn="just">
              <a:lnSpc>
                <a:spcPts val="5035"/>
              </a:lnSpc>
              <a:spcBef>
                <a:spcPts val="305"/>
              </a:spcBef>
            </a:pPr>
          </a:p>
          <a:p>
            <a:pPr algn="just">
              <a:lnSpc>
                <a:spcPts val="5035"/>
              </a:lnSpc>
              <a:spcBef>
                <a:spcPts val="305"/>
              </a:spcBef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1083440" y="2542334"/>
            <a:ext cx="2555081" cy="371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Introduction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Literature Review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Limitations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Problem Statement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Proposed Solution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5149098" y="2542334"/>
            <a:ext cx="2746653" cy="373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Technology Used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System Architecture 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and Working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Future Scope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Conclusion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References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76844" y="6370874"/>
            <a:ext cx="2555081" cy="39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563463" y="2514393"/>
            <a:ext cx="367665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1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77989" y="3276394"/>
            <a:ext cx="379452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2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87593" y="4038394"/>
            <a:ext cx="386596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3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3463" y="4773089"/>
            <a:ext cx="402312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4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77989" y="5831634"/>
            <a:ext cx="396121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5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67274" y="2580433"/>
            <a:ext cx="410408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6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667274" y="3332909"/>
            <a:ext cx="359569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7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627507" y="4402249"/>
            <a:ext cx="399336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8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622447" y="5150914"/>
            <a:ext cx="409456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9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692967" y="5865924"/>
            <a:ext cx="367665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1</a:t>
            </a:r>
            <a:r>
              <a:rPr lang="en-IN" altLang="en-US" sz="20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0</a:t>
            </a:r>
            <a:endParaRPr lang="en-US" sz="24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31520"/>
            <a:ext cx="3598946" cy="5852160"/>
            <a:chOff x="0" y="0"/>
            <a:chExt cx="4798595" cy="7802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8633" cy="7802880"/>
            </a:xfrm>
            <a:custGeom>
              <a:avLst/>
              <a:gdLst/>
              <a:ahLst/>
              <a:cxnLst/>
              <a:rect l="l" t="t" r="r" b="b"/>
              <a:pathLst>
                <a:path w="4798633" h="7802880">
                  <a:moveTo>
                    <a:pt x="0" y="0"/>
                  </a:moveTo>
                  <a:lnTo>
                    <a:pt x="0" y="7802880"/>
                  </a:lnTo>
                  <a:lnTo>
                    <a:pt x="4798633" y="7802880"/>
                  </a:lnTo>
                  <a:lnTo>
                    <a:pt x="4798633" y="7783195"/>
                  </a:lnTo>
                  <a:lnTo>
                    <a:pt x="3434478" y="0"/>
                  </a:lnTo>
                  <a:close/>
                </a:path>
              </a:pathLst>
            </a:custGeom>
            <a:blipFill>
              <a:blip r:embed="rId1"/>
              <a:stretch>
                <a:fillRect l="-96689" r="-834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63503" y="-63503"/>
            <a:ext cx="3375022" cy="3053077"/>
            <a:chOff x="0" y="0"/>
            <a:chExt cx="3375025" cy="3053080"/>
          </a:xfrm>
        </p:grpSpPr>
        <p:sp>
          <p:nvSpPr>
            <p:cNvPr id="5" name="Freeform 5"/>
            <p:cNvSpPr/>
            <p:nvPr/>
          </p:nvSpPr>
          <p:spPr>
            <a:xfrm>
              <a:off x="63500" y="65659"/>
              <a:ext cx="1229106" cy="1227074"/>
            </a:xfrm>
            <a:custGeom>
              <a:avLst/>
              <a:gdLst/>
              <a:ahLst/>
              <a:cxnLst/>
              <a:rect l="l" t="t" r="r" b="b"/>
              <a:pathLst>
                <a:path w="1229106" h="1227074">
                  <a:moveTo>
                    <a:pt x="1229106" y="0"/>
                  </a:moveTo>
                  <a:lnTo>
                    <a:pt x="0" y="0"/>
                  </a:lnTo>
                  <a:lnTo>
                    <a:pt x="0" y="1227074"/>
                  </a:lnTo>
                  <a:lnTo>
                    <a:pt x="1229106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436880" y="65659"/>
              <a:ext cx="2874645" cy="2647442"/>
            </a:xfrm>
            <a:custGeom>
              <a:avLst/>
              <a:gdLst/>
              <a:ahLst/>
              <a:cxnLst/>
              <a:rect l="l" t="t" r="r" b="b"/>
              <a:pathLst>
                <a:path w="2874645" h="2647442">
                  <a:moveTo>
                    <a:pt x="2874645" y="0"/>
                  </a:moveTo>
                  <a:lnTo>
                    <a:pt x="2429383" y="0"/>
                  </a:lnTo>
                  <a:lnTo>
                    <a:pt x="1085596" y="1341374"/>
                  </a:lnTo>
                  <a:lnTo>
                    <a:pt x="0" y="2425192"/>
                  </a:lnTo>
                  <a:lnTo>
                    <a:pt x="222631" y="2647442"/>
                  </a:lnTo>
                  <a:lnTo>
                    <a:pt x="2874645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5659"/>
              <a:ext cx="1577848" cy="1575181"/>
            </a:xfrm>
            <a:custGeom>
              <a:avLst/>
              <a:gdLst/>
              <a:ahLst/>
              <a:cxnLst/>
              <a:rect l="l" t="t" r="r" b="b"/>
              <a:pathLst>
                <a:path w="1577848" h="1575181">
                  <a:moveTo>
                    <a:pt x="1577848" y="0"/>
                  </a:moveTo>
                  <a:lnTo>
                    <a:pt x="857631" y="0"/>
                  </a:lnTo>
                  <a:lnTo>
                    <a:pt x="0" y="856234"/>
                  </a:lnTo>
                  <a:lnTo>
                    <a:pt x="0" y="1575181"/>
                  </a:lnTo>
                  <a:lnTo>
                    <a:pt x="1577848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1110234"/>
              <a:ext cx="1521841" cy="1877441"/>
            </a:xfrm>
            <a:custGeom>
              <a:avLst/>
              <a:gdLst/>
              <a:ahLst/>
              <a:cxnLst/>
              <a:rect l="l" t="t" r="r" b="b"/>
              <a:pathLst>
                <a:path w="1521841" h="1877441">
                  <a:moveTo>
                    <a:pt x="1161796" y="0"/>
                  </a:moveTo>
                  <a:lnTo>
                    <a:pt x="351663" y="808863"/>
                  </a:lnTo>
                  <a:lnTo>
                    <a:pt x="0" y="1159891"/>
                  </a:lnTo>
                  <a:lnTo>
                    <a:pt x="0" y="1877441"/>
                  </a:lnTo>
                  <a:lnTo>
                    <a:pt x="1397" y="1877441"/>
                  </a:lnTo>
                  <a:lnTo>
                    <a:pt x="1521841" y="359537"/>
                  </a:lnTo>
                  <a:lnTo>
                    <a:pt x="1458976" y="296799"/>
                  </a:lnTo>
                  <a:lnTo>
                    <a:pt x="1161796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35077" y="65659"/>
              <a:ext cx="2396744" cy="2033270"/>
            </a:xfrm>
            <a:custGeom>
              <a:avLst/>
              <a:gdLst/>
              <a:ahLst/>
              <a:cxnLst/>
              <a:rect l="l" t="t" r="r" b="b"/>
              <a:pathLst>
                <a:path w="2396744" h="2033270">
                  <a:moveTo>
                    <a:pt x="2396744" y="0"/>
                  </a:moveTo>
                  <a:lnTo>
                    <a:pt x="1676527" y="0"/>
                  </a:lnTo>
                  <a:lnTo>
                    <a:pt x="0" y="1673733"/>
                  </a:lnTo>
                  <a:lnTo>
                    <a:pt x="360172" y="2033270"/>
                  </a:lnTo>
                  <a:lnTo>
                    <a:pt x="1170305" y="1224407"/>
                  </a:lnTo>
                  <a:lnTo>
                    <a:pt x="2396744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3244596" cy="2926080"/>
            </a:xfrm>
            <a:custGeom>
              <a:avLst/>
              <a:gdLst/>
              <a:ahLst/>
              <a:cxnLst/>
              <a:rect l="l" t="t" r="r" b="b"/>
              <a:pathLst>
                <a:path w="3244596" h="2926080">
                  <a:moveTo>
                    <a:pt x="0" y="2926080"/>
                  </a:moveTo>
                  <a:lnTo>
                    <a:pt x="3244596" y="2926080"/>
                  </a:lnTo>
                  <a:lnTo>
                    <a:pt x="32445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-63503" y="5709971"/>
            <a:ext cx="9883645" cy="1671771"/>
            <a:chOff x="0" y="0"/>
            <a:chExt cx="9883648" cy="1671777"/>
          </a:xfrm>
        </p:grpSpPr>
        <p:sp>
          <p:nvSpPr>
            <p:cNvPr id="12" name="Freeform 12"/>
            <p:cNvSpPr/>
            <p:nvPr/>
          </p:nvSpPr>
          <p:spPr>
            <a:xfrm>
              <a:off x="63500" y="873761"/>
              <a:ext cx="9753600" cy="731521"/>
            </a:xfrm>
            <a:custGeom>
              <a:avLst/>
              <a:gdLst/>
              <a:ahLst/>
              <a:cxnLst/>
              <a:rect l="l" t="t" r="r" b="b"/>
              <a:pathLst>
                <a:path w="9753600" h="731521">
                  <a:moveTo>
                    <a:pt x="0" y="0"/>
                  </a:moveTo>
                  <a:lnTo>
                    <a:pt x="0" y="731521"/>
                  </a:lnTo>
                  <a:lnTo>
                    <a:pt x="9753600" y="731521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8031607" y="660782"/>
              <a:ext cx="1730883" cy="944500"/>
            </a:xfrm>
            <a:custGeom>
              <a:avLst/>
              <a:gdLst/>
              <a:ahLst/>
              <a:cxnLst/>
              <a:rect l="l" t="t" r="r" b="b"/>
              <a:pathLst>
                <a:path w="1730883" h="944500">
                  <a:moveTo>
                    <a:pt x="865378" y="0"/>
                  </a:moveTo>
                  <a:lnTo>
                    <a:pt x="0" y="944500"/>
                  </a:lnTo>
                  <a:lnTo>
                    <a:pt x="1730883" y="944500"/>
                  </a:lnTo>
                  <a:lnTo>
                    <a:pt x="865378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8407400" y="664465"/>
              <a:ext cx="1355090" cy="940817"/>
            </a:xfrm>
            <a:custGeom>
              <a:avLst/>
              <a:gdLst/>
              <a:ahLst/>
              <a:cxnLst/>
              <a:rect l="l" t="t" r="r" b="b"/>
              <a:pathLst>
                <a:path w="1355090" h="940817">
                  <a:moveTo>
                    <a:pt x="492887" y="0"/>
                  </a:moveTo>
                  <a:lnTo>
                    <a:pt x="0" y="537972"/>
                  </a:lnTo>
                  <a:lnTo>
                    <a:pt x="360934" y="940817"/>
                  </a:lnTo>
                  <a:lnTo>
                    <a:pt x="1355090" y="940817"/>
                  </a:lnTo>
                  <a:lnTo>
                    <a:pt x="492887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7666101" y="65913"/>
              <a:ext cx="2150999" cy="1539369"/>
            </a:xfrm>
            <a:custGeom>
              <a:avLst/>
              <a:gdLst/>
              <a:ahLst/>
              <a:cxnLst/>
              <a:rect l="l" t="t" r="r" b="b"/>
              <a:pathLst>
                <a:path w="2150999" h="1539369">
                  <a:moveTo>
                    <a:pt x="1410462" y="0"/>
                  </a:moveTo>
                  <a:lnTo>
                    <a:pt x="0" y="1539369"/>
                  </a:lnTo>
                  <a:lnTo>
                    <a:pt x="368427" y="1539369"/>
                  </a:lnTo>
                  <a:lnTo>
                    <a:pt x="1413129" y="403352"/>
                  </a:lnTo>
                  <a:lnTo>
                    <a:pt x="2150999" y="1208533"/>
                  </a:lnTo>
                  <a:lnTo>
                    <a:pt x="2150999" y="802260"/>
                  </a:lnTo>
                  <a:lnTo>
                    <a:pt x="1415669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896735" y="63500"/>
              <a:ext cx="2920365" cy="1541782"/>
            </a:xfrm>
            <a:custGeom>
              <a:avLst/>
              <a:gdLst/>
              <a:ahLst/>
              <a:cxnLst/>
              <a:rect l="l" t="t" r="r" b="b"/>
              <a:pathLst>
                <a:path w="2920365" h="1541782">
                  <a:moveTo>
                    <a:pt x="0" y="0"/>
                  </a:moveTo>
                  <a:lnTo>
                    <a:pt x="0" y="1541782"/>
                  </a:lnTo>
                  <a:lnTo>
                    <a:pt x="2920365" y="1541782"/>
                  </a:lnTo>
                  <a:lnTo>
                    <a:pt x="292036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4407913" y="80077"/>
            <a:ext cx="4635217" cy="109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Introduction</a:t>
            </a:r>
            <a:r>
              <a:rPr lang="en-US" sz="6400">
                <a:solidFill>
                  <a:srgbClr val="000000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 </a:t>
            </a:r>
            <a:endParaRPr lang="en-US" sz="6400">
              <a:solidFill>
                <a:srgbClr val="000000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148830" y="1263294"/>
            <a:ext cx="6773539" cy="224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62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Cybersecurity investigations involve analyzing security logs and digital forensic artifacts to identify suspicious activities and potential cyberattacks.</a:t>
            </a:r>
            <a:r>
              <a:rPr lang="en-US" sz="162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Traditional investigations can be time-consuming because analysts must manually examine large amounts of data.The AI-Agentic Cyber Investigation Platform (AACIP) combines deterministic analysis tools with AI-assisted reasoning to support cyber investigations.</a:t>
            </a:r>
            <a:endParaRPr lang="en-US" sz="162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ctr">
              <a:lnSpc>
                <a:spcPts val="1845"/>
              </a:lnSpc>
              <a:spcBef>
                <a:spcPct val="0"/>
              </a:spcBef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3598946" y="3507381"/>
            <a:ext cx="5345687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Key Features:</a:t>
            </a:r>
            <a:endParaRPr lang="en-US" sz="18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Analyzes security logs and digital forensic artifacts.</a:t>
            </a:r>
            <a:endParaRPr lang="en-US" sz="16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Extracts evidence using deterministic tools.</a:t>
            </a:r>
            <a:endParaRPr lang="en-US" sz="16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Uses AI agents to assist with investigation and reasoning.</a:t>
            </a:r>
            <a:endParaRPr lang="en-US" sz="16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Classifies findings as FACT, INFERENCE, HYPOTHESIS, or UNKNOWN.</a:t>
            </a:r>
            <a:endParaRPr lang="en-US" sz="16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Generates risk assessments and evidence-backed incident reports.</a:t>
            </a:r>
            <a:endParaRPr lang="en-US" sz="16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3503" y="5290023"/>
            <a:ext cx="9883645" cy="2091728"/>
            <a:chOff x="0" y="0"/>
            <a:chExt cx="9883648" cy="2091728"/>
          </a:xfrm>
        </p:grpSpPr>
        <p:sp>
          <p:nvSpPr>
            <p:cNvPr id="3" name="Freeform 3"/>
            <p:cNvSpPr/>
            <p:nvPr/>
          </p:nvSpPr>
          <p:spPr>
            <a:xfrm>
              <a:off x="63500" y="1262254"/>
              <a:ext cx="9021953" cy="762889"/>
            </a:xfrm>
            <a:custGeom>
              <a:avLst/>
              <a:gdLst/>
              <a:ahLst/>
              <a:cxnLst/>
              <a:rect l="l" t="t" r="r" b="b"/>
              <a:pathLst>
                <a:path w="9021953" h="762889">
                  <a:moveTo>
                    <a:pt x="0" y="0"/>
                  </a:moveTo>
                  <a:lnTo>
                    <a:pt x="0" y="762889"/>
                  </a:lnTo>
                  <a:lnTo>
                    <a:pt x="9021953" y="762889"/>
                  </a:lnTo>
                  <a:lnTo>
                    <a:pt x="9021953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7964043" y="586105"/>
              <a:ext cx="1853057" cy="1439038"/>
            </a:xfrm>
            <a:custGeom>
              <a:avLst/>
              <a:gdLst/>
              <a:ahLst/>
              <a:cxnLst/>
              <a:rect l="l" t="t" r="r" b="b"/>
              <a:pathLst>
                <a:path w="1853057" h="1439038">
                  <a:moveTo>
                    <a:pt x="1318514" y="0"/>
                  </a:moveTo>
                  <a:lnTo>
                    <a:pt x="0" y="1439038"/>
                  </a:lnTo>
                  <a:lnTo>
                    <a:pt x="1853057" y="1439038"/>
                  </a:lnTo>
                  <a:lnTo>
                    <a:pt x="1853057" y="583312"/>
                  </a:lnTo>
                  <a:lnTo>
                    <a:pt x="1318514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8854186" y="589407"/>
              <a:ext cx="962914" cy="1435863"/>
            </a:xfrm>
            <a:custGeom>
              <a:avLst/>
              <a:gdLst/>
              <a:ahLst/>
              <a:cxnLst/>
              <a:rect l="l" t="t" r="r" b="b"/>
              <a:pathLst>
                <a:path w="962914" h="1435863">
                  <a:moveTo>
                    <a:pt x="431165" y="0"/>
                  </a:moveTo>
                  <a:lnTo>
                    <a:pt x="0" y="470790"/>
                  </a:lnTo>
                  <a:lnTo>
                    <a:pt x="864743" y="1435863"/>
                  </a:lnTo>
                  <a:lnTo>
                    <a:pt x="962914" y="1435863"/>
                  </a:lnTo>
                  <a:lnTo>
                    <a:pt x="962914" y="580137"/>
                  </a:lnTo>
                  <a:lnTo>
                    <a:pt x="431165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644257" y="64516"/>
              <a:ext cx="2172843" cy="1960627"/>
            </a:xfrm>
            <a:custGeom>
              <a:avLst/>
              <a:gdLst/>
              <a:ahLst/>
              <a:cxnLst/>
              <a:rect l="l" t="t" r="r" b="b"/>
              <a:pathLst>
                <a:path w="2172843" h="1960627">
                  <a:moveTo>
                    <a:pt x="1796415" y="0"/>
                  </a:moveTo>
                  <a:lnTo>
                    <a:pt x="0" y="1960627"/>
                  </a:lnTo>
                  <a:lnTo>
                    <a:pt x="320420" y="1960627"/>
                  </a:lnTo>
                  <a:lnTo>
                    <a:pt x="1797685" y="354076"/>
                  </a:lnTo>
                  <a:lnTo>
                    <a:pt x="2172843" y="763397"/>
                  </a:lnTo>
                  <a:lnTo>
                    <a:pt x="2172843" y="407924"/>
                  </a:lnTo>
                  <a:lnTo>
                    <a:pt x="179908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532116" y="63500"/>
              <a:ext cx="2284984" cy="1961643"/>
            </a:xfrm>
            <a:custGeom>
              <a:avLst/>
              <a:gdLst/>
              <a:ahLst/>
              <a:cxnLst/>
              <a:rect l="l" t="t" r="r" b="b"/>
              <a:pathLst>
                <a:path w="2284984" h="1961643">
                  <a:moveTo>
                    <a:pt x="0" y="0"/>
                  </a:moveTo>
                  <a:lnTo>
                    <a:pt x="0" y="1961643"/>
                  </a:lnTo>
                  <a:lnTo>
                    <a:pt x="2284984" y="1961643"/>
                  </a:lnTo>
                  <a:lnTo>
                    <a:pt x="228498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-63503" y="-63503"/>
            <a:ext cx="1673285" cy="1344520"/>
            <a:chOff x="0" y="0"/>
            <a:chExt cx="1673288" cy="1344524"/>
          </a:xfrm>
        </p:grpSpPr>
        <p:sp>
          <p:nvSpPr>
            <p:cNvPr id="9" name="Freeform 9"/>
            <p:cNvSpPr/>
            <p:nvPr/>
          </p:nvSpPr>
          <p:spPr>
            <a:xfrm>
              <a:off x="67310" y="63500"/>
              <a:ext cx="1351406" cy="911102"/>
            </a:xfrm>
            <a:custGeom>
              <a:avLst/>
              <a:gdLst/>
              <a:ahLst/>
              <a:cxnLst/>
              <a:rect l="l" t="t" r="r" b="b"/>
              <a:pathLst>
                <a:path w="1351406" h="911102">
                  <a:moveTo>
                    <a:pt x="0" y="347093"/>
                  </a:moveTo>
                  <a:lnTo>
                    <a:pt x="0" y="0"/>
                  </a:lnTo>
                  <a:lnTo>
                    <a:pt x="1351406" y="0"/>
                  </a:lnTo>
                  <a:lnTo>
                    <a:pt x="516763" y="911102"/>
                  </a:lnTo>
                  <a:lnTo>
                    <a:pt x="0" y="347093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7310" y="63500"/>
              <a:ext cx="767715" cy="909196"/>
            </a:xfrm>
            <a:custGeom>
              <a:avLst/>
              <a:gdLst/>
              <a:ahLst/>
              <a:cxnLst/>
              <a:rect l="l" t="t" r="r" b="b"/>
              <a:pathLst>
                <a:path w="767715" h="909196">
                  <a:moveTo>
                    <a:pt x="0" y="347093"/>
                  </a:moveTo>
                  <a:lnTo>
                    <a:pt x="0" y="0"/>
                  </a:lnTo>
                  <a:lnTo>
                    <a:pt x="200279" y="0"/>
                  </a:lnTo>
                  <a:lnTo>
                    <a:pt x="767715" y="633352"/>
                  </a:lnTo>
                  <a:lnTo>
                    <a:pt x="515112" y="909197"/>
                  </a:lnTo>
                  <a:lnTo>
                    <a:pt x="0" y="34709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7310" y="63500"/>
              <a:ext cx="1538858" cy="1217554"/>
            </a:xfrm>
            <a:custGeom>
              <a:avLst/>
              <a:gdLst/>
              <a:ahLst/>
              <a:cxnLst/>
              <a:rect l="l" t="t" r="r" b="b"/>
              <a:pathLst>
                <a:path w="1538858" h="1217554">
                  <a:moveTo>
                    <a:pt x="0" y="755526"/>
                  </a:moveTo>
                  <a:lnTo>
                    <a:pt x="0" y="547245"/>
                  </a:lnTo>
                  <a:lnTo>
                    <a:pt x="423291" y="1009273"/>
                  </a:lnTo>
                  <a:lnTo>
                    <a:pt x="1351279" y="0"/>
                  </a:lnTo>
                  <a:lnTo>
                    <a:pt x="1538858" y="0"/>
                  </a:lnTo>
                  <a:lnTo>
                    <a:pt x="423291" y="1217554"/>
                  </a:lnTo>
                  <a:lnTo>
                    <a:pt x="0" y="75552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63500"/>
              <a:ext cx="1546351" cy="1217300"/>
            </a:xfrm>
            <a:custGeom>
              <a:avLst/>
              <a:gdLst/>
              <a:ahLst/>
              <a:cxnLst/>
              <a:rect l="l" t="t" r="r" b="b"/>
              <a:pathLst>
                <a:path w="1546351" h="1217300">
                  <a:moveTo>
                    <a:pt x="0" y="1217300"/>
                  </a:moveTo>
                  <a:lnTo>
                    <a:pt x="1546351" y="1217300"/>
                  </a:lnTo>
                  <a:lnTo>
                    <a:pt x="15463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8557955" y="0"/>
            <a:ext cx="1195645" cy="3742944"/>
            <a:chOff x="0" y="0"/>
            <a:chExt cx="1195641" cy="3742944"/>
          </a:xfrm>
        </p:grpSpPr>
        <p:sp>
          <p:nvSpPr>
            <p:cNvPr id="14" name="Freeform 14"/>
            <p:cNvSpPr/>
            <p:nvPr/>
          </p:nvSpPr>
          <p:spPr>
            <a:xfrm>
              <a:off x="0" y="507746"/>
              <a:ext cx="1195578" cy="2391284"/>
            </a:xfrm>
            <a:custGeom>
              <a:avLst/>
              <a:gdLst/>
              <a:ahLst/>
              <a:cxnLst/>
              <a:rect l="l" t="t" r="r" b="b"/>
              <a:pathLst>
                <a:path w="1195578" h="2391284">
                  <a:moveTo>
                    <a:pt x="1195578" y="0"/>
                  </a:moveTo>
                  <a:lnTo>
                    <a:pt x="0" y="1195706"/>
                  </a:lnTo>
                  <a:lnTo>
                    <a:pt x="1195578" y="2391284"/>
                  </a:lnTo>
                  <a:lnTo>
                    <a:pt x="1195578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12495" y="1090758"/>
          <a:ext cx="9271656" cy="5157642"/>
        </p:xfrm>
        <a:graphic>
          <a:graphicData uri="http://schemas.openxmlformats.org/drawingml/2006/table">
            <a:tbl>
              <a:tblPr/>
              <a:tblGrid>
                <a:gridCol w="704095"/>
                <a:gridCol w="2905270"/>
                <a:gridCol w="1804682"/>
                <a:gridCol w="1205975"/>
                <a:gridCol w="2651634"/>
              </a:tblGrid>
              <a:tr h="1019917">
                <a:tc>
                  <a:txBody>
                    <a:bodyPr rtlCol="0"/>
                    <a:lstStyle/>
                    <a:p>
                      <a:pPr algn="l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Sr No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Research / Reference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Technology / Approach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Year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Limitation / Research Gap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617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1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Survey of Hallucination in Natural Language Generation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Large Language Models and hallucination mitigation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2023 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AI-generated text can contain unsupported or incorrect information.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617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2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NIST SP 800-86: Guide to Integrating Forensic Techniques into Incident Response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Digital forensics and incident response procedures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2006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Provides forensic guidance but does not implement AACIP's AI evidence-grounding architecture.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2490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3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MITRE ATT&amp;CK Framework 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Cyberattack tactics and techniques knowledge base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Continuously maintained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nvaSansSC-Regular" charset="-128"/>
                          <a:ea typeface="CanvaSansSC-Regular" charset="-128"/>
                          <a:cs typeface="CanvaSansSC-Regular" charset="-128"/>
                          <a:sym typeface="CanvaSansSC-Regular" charset="-128"/>
                        </a:rPr>
                        <a:t>Provides a structured knowledge base but does not independently validate every AI-generated investigation finding.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1760821" y="123825"/>
            <a:ext cx="6646095" cy="89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sz="677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Literature Review</a:t>
            </a:r>
            <a:endParaRPr lang="en-US" sz="677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3503" y="-63503"/>
            <a:ext cx="2246643" cy="1479156"/>
            <a:chOff x="0" y="0"/>
            <a:chExt cx="2246643" cy="147915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45969" cy="927226"/>
            </a:xfrm>
            <a:custGeom>
              <a:avLst/>
              <a:gdLst/>
              <a:ahLst/>
              <a:cxnLst/>
              <a:rect l="l" t="t" r="r" b="b"/>
              <a:pathLst>
                <a:path w="1545969" h="927226">
                  <a:moveTo>
                    <a:pt x="0" y="0"/>
                  </a:moveTo>
                  <a:lnTo>
                    <a:pt x="0" y="167259"/>
                  </a:lnTo>
                  <a:lnTo>
                    <a:pt x="696340" y="927226"/>
                  </a:lnTo>
                  <a:lnTo>
                    <a:pt x="1545969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044701" cy="924559"/>
            </a:xfrm>
            <a:custGeom>
              <a:avLst/>
              <a:gdLst/>
              <a:ahLst/>
              <a:cxnLst/>
              <a:rect l="l" t="t" r="r" b="b"/>
              <a:pathLst>
                <a:path w="1044701" h="924559">
                  <a:moveTo>
                    <a:pt x="0" y="0"/>
                  </a:moveTo>
                  <a:lnTo>
                    <a:pt x="0" y="167259"/>
                  </a:lnTo>
                  <a:lnTo>
                    <a:pt x="694054" y="924559"/>
                  </a:lnTo>
                  <a:lnTo>
                    <a:pt x="1044701" y="541781"/>
                  </a:lnTo>
                  <a:lnTo>
                    <a:pt x="559180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805938" cy="1348993"/>
            </a:xfrm>
            <a:custGeom>
              <a:avLst/>
              <a:gdLst/>
              <a:ahLst/>
              <a:cxnLst/>
              <a:rect l="l" t="t" r="r" b="b"/>
              <a:pathLst>
                <a:path w="1805938" h="1348993">
                  <a:moveTo>
                    <a:pt x="1544699" y="0"/>
                  </a:moveTo>
                  <a:lnTo>
                    <a:pt x="566800" y="1063497"/>
                  </a:lnTo>
                  <a:lnTo>
                    <a:pt x="0" y="445008"/>
                  </a:lnTo>
                  <a:lnTo>
                    <a:pt x="0" y="734059"/>
                  </a:lnTo>
                  <a:lnTo>
                    <a:pt x="563625" y="1348993"/>
                  </a:lnTo>
                  <a:lnTo>
                    <a:pt x="569975" y="1348993"/>
                  </a:lnTo>
                  <a:lnTo>
                    <a:pt x="1805938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2119627" cy="1352168"/>
            </a:xfrm>
            <a:custGeom>
              <a:avLst/>
              <a:gdLst/>
              <a:ahLst/>
              <a:cxnLst/>
              <a:rect l="l" t="t" r="r" b="b"/>
              <a:pathLst>
                <a:path w="2119627" h="1352168">
                  <a:moveTo>
                    <a:pt x="0" y="0"/>
                  </a:moveTo>
                  <a:lnTo>
                    <a:pt x="0" y="1352168"/>
                  </a:lnTo>
                  <a:lnTo>
                    <a:pt x="2119627" y="1352168"/>
                  </a:lnTo>
                  <a:lnTo>
                    <a:pt x="21196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5088846" y="3269523"/>
            <a:ext cx="758419" cy="756695"/>
            <a:chOff x="0" y="0"/>
            <a:chExt cx="758419" cy="756691"/>
          </a:xfrm>
        </p:grpSpPr>
        <p:sp>
          <p:nvSpPr>
            <p:cNvPr id="8" name="Freeform 8"/>
            <p:cNvSpPr/>
            <p:nvPr/>
          </p:nvSpPr>
          <p:spPr>
            <a:xfrm>
              <a:off x="82931" y="63500"/>
              <a:ext cx="591690" cy="279654"/>
            </a:xfrm>
            <a:custGeom>
              <a:avLst/>
              <a:gdLst/>
              <a:ahLst/>
              <a:cxnLst/>
              <a:rect l="l" t="t" r="r" b="b"/>
              <a:pathLst>
                <a:path w="591690" h="279654">
                  <a:moveTo>
                    <a:pt x="11303" y="279527"/>
                  </a:moveTo>
                  <a:cubicBezTo>
                    <a:pt x="17526" y="279527"/>
                    <a:pt x="22478" y="274447"/>
                    <a:pt x="22478" y="268351"/>
                  </a:cubicBezTo>
                  <a:lnTo>
                    <a:pt x="22478" y="259588"/>
                  </a:lnTo>
                  <a:cubicBezTo>
                    <a:pt x="22478" y="213741"/>
                    <a:pt x="51561" y="172974"/>
                    <a:pt x="94741" y="158115"/>
                  </a:cubicBezTo>
                  <a:cubicBezTo>
                    <a:pt x="95376" y="157861"/>
                    <a:pt x="96011" y="157607"/>
                    <a:pt x="96519" y="157353"/>
                  </a:cubicBezTo>
                  <a:cubicBezTo>
                    <a:pt x="106679" y="162560"/>
                    <a:pt x="117982" y="165354"/>
                    <a:pt x="129666" y="165354"/>
                  </a:cubicBezTo>
                  <a:cubicBezTo>
                    <a:pt x="141350" y="165354"/>
                    <a:pt x="152526" y="162687"/>
                    <a:pt x="162559" y="157480"/>
                  </a:cubicBezTo>
                  <a:cubicBezTo>
                    <a:pt x="171830" y="160401"/>
                    <a:pt x="180466" y="164592"/>
                    <a:pt x="188594" y="170053"/>
                  </a:cubicBezTo>
                  <a:cubicBezTo>
                    <a:pt x="168401" y="194564"/>
                    <a:pt x="156590" y="225679"/>
                    <a:pt x="156590" y="258953"/>
                  </a:cubicBezTo>
                  <a:cubicBezTo>
                    <a:pt x="156590" y="265176"/>
                    <a:pt x="161670" y="270129"/>
                    <a:pt x="167766" y="270129"/>
                  </a:cubicBezTo>
                  <a:cubicBezTo>
                    <a:pt x="173862" y="270129"/>
                    <a:pt x="178942" y="265049"/>
                    <a:pt x="178942" y="258953"/>
                  </a:cubicBezTo>
                  <a:cubicBezTo>
                    <a:pt x="178942" y="209042"/>
                    <a:pt x="210692" y="164592"/>
                    <a:pt x="257808" y="148336"/>
                  </a:cubicBezTo>
                  <a:cubicBezTo>
                    <a:pt x="258570" y="148082"/>
                    <a:pt x="259332" y="147701"/>
                    <a:pt x="259967" y="147320"/>
                  </a:cubicBezTo>
                  <a:cubicBezTo>
                    <a:pt x="270889" y="153035"/>
                    <a:pt x="283208" y="156083"/>
                    <a:pt x="295908" y="156083"/>
                  </a:cubicBezTo>
                  <a:cubicBezTo>
                    <a:pt x="308481" y="156083"/>
                    <a:pt x="320546" y="153162"/>
                    <a:pt x="331468" y="147574"/>
                  </a:cubicBezTo>
                  <a:cubicBezTo>
                    <a:pt x="342263" y="151003"/>
                    <a:pt x="352550" y="156083"/>
                    <a:pt x="361948" y="162433"/>
                  </a:cubicBezTo>
                  <a:cubicBezTo>
                    <a:pt x="372235" y="169418"/>
                    <a:pt x="381252" y="178054"/>
                    <a:pt x="388872" y="187960"/>
                  </a:cubicBezTo>
                  <a:cubicBezTo>
                    <a:pt x="396492" y="197866"/>
                    <a:pt x="402461" y="209042"/>
                    <a:pt x="406525" y="220853"/>
                  </a:cubicBezTo>
                  <a:cubicBezTo>
                    <a:pt x="410716" y="233045"/>
                    <a:pt x="412875" y="245999"/>
                    <a:pt x="412875" y="259080"/>
                  </a:cubicBezTo>
                  <a:lnTo>
                    <a:pt x="412875" y="268478"/>
                  </a:lnTo>
                  <a:cubicBezTo>
                    <a:pt x="412875" y="274701"/>
                    <a:pt x="417955" y="279654"/>
                    <a:pt x="424051" y="279654"/>
                  </a:cubicBezTo>
                  <a:cubicBezTo>
                    <a:pt x="430147" y="279654"/>
                    <a:pt x="435226" y="274574"/>
                    <a:pt x="435226" y="268478"/>
                  </a:cubicBezTo>
                  <a:lnTo>
                    <a:pt x="435226" y="259080"/>
                  </a:lnTo>
                  <a:cubicBezTo>
                    <a:pt x="435226" y="243459"/>
                    <a:pt x="432686" y="228219"/>
                    <a:pt x="427606" y="213614"/>
                  </a:cubicBezTo>
                  <a:cubicBezTo>
                    <a:pt x="422781" y="199517"/>
                    <a:pt x="415669" y="186309"/>
                    <a:pt x="406525" y="174371"/>
                  </a:cubicBezTo>
                  <a:cubicBezTo>
                    <a:pt x="405509" y="172974"/>
                    <a:pt x="404366" y="171577"/>
                    <a:pt x="403223" y="170180"/>
                  </a:cubicBezTo>
                  <a:cubicBezTo>
                    <a:pt x="411351" y="164846"/>
                    <a:pt x="420114" y="160655"/>
                    <a:pt x="429257" y="157607"/>
                  </a:cubicBezTo>
                  <a:cubicBezTo>
                    <a:pt x="439290" y="162687"/>
                    <a:pt x="450593" y="165481"/>
                    <a:pt x="462150" y="165481"/>
                  </a:cubicBezTo>
                  <a:cubicBezTo>
                    <a:pt x="473707" y="165481"/>
                    <a:pt x="485137" y="162687"/>
                    <a:pt x="495297" y="157480"/>
                  </a:cubicBezTo>
                  <a:cubicBezTo>
                    <a:pt x="495805" y="157734"/>
                    <a:pt x="496440" y="158115"/>
                    <a:pt x="497075" y="158242"/>
                  </a:cubicBezTo>
                  <a:cubicBezTo>
                    <a:pt x="540382" y="173101"/>
                    <a:pt x="569338" y="213868"/>
                    <a:pt x="569338" y="259715"/>
                  </a:cubicBezTo>
                  <a:lnTo>
                    <a:pt x="569338" y="268478"/>
                  </a:lnTo>
                  <a:cubicBezTo>
                    <a:pt x="569338" y="274701"/>
                    <a:pt x="574418" y="279654"/>
                    <a:pt x="580514" y="279654"/>
                  </a:cubicBezTo>
                  <a:cubicBezTo>
                    <a:pt x="586610" y="279654"/>
                    <a:pt x="591690" y="274574"/>
                    <a:pt x="591690" y="268478"/>
                  </a:cubicBezTo>
                  <a:lnTo>
                    <a:pt x="591690" y="259715"/>
                  </a:lnTo>
                  <a:cubicBezTo>
                    <a:pt x="591690" y="208534"/>
                    <a:pt x="561718" y="162560"/>
                    <a:pt x="515744" y="141605"/>
                  </a:cubicBezTo>
                  <a:cubicBezTo>
                    <a:pt x="528063" y="128143"/>
                    <a:pt x="534794" y="110744"/>
                    <a:pt x="534794" y="92456"/>
                  </a:cubicBezTo>
                  <a:cubicBezTo>
                    <a:pt x="534794" y="73025"/>
                    <a:pt x="527174" y="54610"/>
                    <a:pt x="513458" y="40894"/>
                  </a:cubicBezTo>
                  <a:cubicBezTo>
                    <a:pt x="499742" y="27178"/>
                    <a:pt x="481327" y="19558"/>
                    <a:pt x="461896" y="19558"/>
                  </a:cubicBezTo>
                  <a:cubicBezTo>
                    <a:pt x="442465" y="19558"/>
                    <a:pt x="424051" y="27178"/>
                    <a:pt x="410335" y="40894"/>
                  </a:cubicBezTo>
                  <a:cubicBezTo>
                    <a:pt x="396619" y="54610"/>
                    <a:pt x="388999" y="73025"/>
                    <a:pt x="388999" y="92456"/>
                  </a:cubicBezTo>
                  <a:cubicBezTo>
                    <a:pt x="388999" y="110871"/>
                    <a:pt x="395730" y="128143"/>
                    <a:pt x="408049" y="141605"/>
                  </a:cubicBezTo>
                  <a:cubicBezTo>
                    <a:pt x="400683" y="144907"/>
                    <a:pt x="393698" y="148971"/>
                    <a:pt x="386967" y="153797"/>
                  </a:cubicBezTo>
                  <a:cubicBezTo>
                    <a:pt x="382903" y="150241"/>
                    <a:pt x="378585" y="146939"/>
                    <a:pt x="374140" y="143891"/>
                  </a:cubicBezTo>
                  <a:cubicBezTo>
                    <a:pt x="367155" y="139065"/>
                    <a:pt x="359789" y="135001"/>
                    <a:pt x="352169" y="131572"/>
                  </a:cubicBezTo>
                  <a:cubicBezTo>
                    <a:pt x="366647" y="116967"/>
                    <a:pt x="374267" y="98044"/>
                    <a:pt x="374267" y="77978"/>
                  </a:cubicBezTo>
                  <a:cubicBezTo>
                    <a:pt x="374267" y="57150"/>
                    <a:pt x="366139" y="37592"/>
                    <a:pt x="351407" y="22860"/>
                  </a:cubicBezTo>
                  <a:cubicBezTo>
                    <a:pt x="336675" y="8128"/>
                    <a:pt x="317117" y="0"/>
                    <a:pt x="296289" y="0"/>
                  </a:cubicBezTo>
                  <a:cubicBezTo>
                    <a:pt x="275461" y="0"/>
                    <a:pt x="255903" y="8128"/>
                    <a:pt x="241171" y="22860"/>
                  </a:cubicBezTo>
                  <a:cubicBezTo>
                    <a:pt x="226440" y="37592"/>
                    <a:pt x="218312" y="57150"/>
                    <a:pt x="218312" y="77978"/>
                  </a:cubicBezTo>
                  <a:cubicBezTo>
                    <a:pt x="218312" y="98044"/>
                    <a:pt x="225805" y="116967"/>
                    <a:pt x="239520" y="131445"/>
                  </a:cubicBezTo>
                  <a:cubicBezTo>
                    <a:pt x="226693" y="137160"/>
                    <a:pt x="214883" y="144780"/>
                    <a:pt x="204596" y="153797"/>
                  </a:cubicBezTo>
                  <a:cubicBezTo>
                    <a:pt x="204088" y="153289"/>
                    <a:pt x="203580" y="152908"/>
                    <a:pt x="203072" y="152527"/>
                  </a:cubicBezTo>
                  <a:cubicBezTo>
                    <a:pt x="196849" y="148336"/>
                    <a:pt x="190372" y="144653"/>
                    <a:pt x="183641" y="141605"/>
                  </a:cubicBezTo>
                  <a:cubicBezTo>
                    <a:pt x="195960" y="128143"/>
                    <a:pt x="202691" y="110744"/>
                    <a:pt x="202691" y="92456"/>
                  </a:cubicBezTo>
                  <a:cubicBezTo>
                    <a:pt x="202691" y="73025"/>
                    <a:pt x="195071" y="54610"/>
                    <a:pt x="181355" y="40894"/>
                  </a:cubicBezTo>
                  <a:cubicBezTo>
                    <a:pt x="167639" y="27178"/>
                    <a:pt x="149224" y="19558"/>
                    <a:pt x="129793" y="19558"/>
                  </a:cubicBezTo>
                  <a:cubicBezTo>
                    <a:pt x="110362" y="19558"/>
                    <a:pt x="91947" y="27178"/>
                    <a:pt x="78231" y="40894"/>
                  </a:cubicBezTo>
                  <a:cubicBezTo>
                    <a:pt x="64515" y="54610"/>
                    <a:pt x="56895" y="73025"/>
                    <a:pt x="56895" y="92456"/>
                  </a:cubicBezTo>
                  <a:cubicBezTo>
                    <a:pt x="56895" y="110871"/>
                    <a:pt x="63626" y="128143"/>
                    <a:pt x="75945" y="141605"/>
                  </a:cubicBezTo>
                  <a:cubicBezTo>
                    <a:pt x="30098" y="162560"/>
                    <a:pt x="0" y="208534"/>
                    <a:pt x="0" y="259715"/>
                  </a:cubicBezTo>
                  <a:lnTo>
                    <a:pt x="0" y="268478"/>
                  </a:lnTo>
                  <a:cubicBezTo>
                    <a:pt x="0" y="274701"/>
                    <a:pt x="5080" y="279654"/>
                    <a:pt x="11176" y="279654"/>
                  </a:cubicBezTo>
                  <a:close/>
                  <a:moveTo>
                    <a:pt x="462658" y="41910"/>
                  </a:moveTo>
                  <a:cubicBezTo>
                    <a:pt x="490471" y="41910"/>
                    <a:pt x="513077" y="64516"/>
                    <a:pt x="513077" y="92329"/>
                  </a:cubicBezTo>
                  <a:cubicBezTo>
                    <a:pt x="513077" y="120142"/>
                    <a:pt x="490471" y="142748"/>
                    <a:pt x="462658" y="142748"/>
                  </a:cubicBezTo>
                  <a:cubicBezTo>
                    <a:pt x="434845" y="142748"/>
                    <a:pt x="412240" y="120142"/>
                    <a:pt x="412240" y="92329"/>
                  </a:cubicBezTo>
                  <a:cubicBezTo>
                    <a:pt x="412240" y="64516"/>
                    <a:pt x="434845" y="41910"/>
                    <a:pt x="462658" y="41910"/>
                  </a:cubicBezTo>
                  <a:close/>
                  <a:moveTo>
                    <a:pt x="296289" y="22479"/>
                  </a:moveTo>
                  <a:cubicBezTo>
                    <a:pt x="326896" y="22479"/>
                    <a:pt x="351788" y="47371"/>
                    <a:pt x="351788" y="77978"/>
                  </a:cubicBezTo>
                  <a:cubicBezTo>
                    <a:pt x="351788" y="108585"/>
                    <a:pt x="326896" y="133477"/>
                    <a:pt x="296289" y="133477"/>
                  </a:cubicBezTo>
                  <a:cubicBezTo>
                    <a:pt x="265682" y="133477"/>
                    <a:pt x="240790" y="108585"/>
                    <a:pt x="240790" y="77978"/>
                  </a:cubicBezTo>
                  <a:cubicBezTo>
                    <a:pt x="240790" y="47371"/>
                    <a:pt x="265682" y="22479"/>
                    <a:pt x="296289" y="22479"/>
                  </a:cubicBezTo>
                  <a:close/>
                  <a:moveTo>
                    <a:pt x="129793" y="41910"/>
                  </a:moveTo>
                  <a:cubicBezTo>
                    <a:pt x="157606" y="41910"/>
                    <a:pt x="180212" y="64516"/>
                    <a:pt x="180212" y="92329"/>
                  </a:cubicBezTo>
                  <a:cubicBezTo>
                    <a:pt x="180212" y="120142"/>
                    <a:pt x="157606" y="142748"/>
                    <a:pt x="129793" y="142748"/>
                  </a:cubicBezTo>
                  <a:cubicBezTo>
                    <a:pt x="101980" y="142748"/>
                    <a:pt x="79374" y="120142"/>
                    <a:pt x="79374" y="92329"/>
                  </a:cubicBezTo>
                  <a:cubicBezTo>
                    <a:pt x="79374" y="64516"/>
                    <a:pt x="101980" y="41910"/>
                    <a:pt x="129793" y="419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627" y="359664"/>
              <a:ext cx="628393" cy="332232"/>
            </a:xfrm>
            <a:custGeom>
              <a:avLst/>
              <a:gdLst/>
              <a:ahLst/>
              <a:cxnLst/>
              <a:rect l="l" t="t" r="r" b="b"/>
              <a:pathLst>
                <a:path w="628393" h="332232">
                  <a:moveTo>
                    <a:pt x="406017" y="22479"/>
                  </a:moveTo>
                  <a:cubicBezTo>
                    <a:pt x="409827" y="33020"/>
                    <a:pt x="411732" y="43942"/>
                    <a:pt x="411732" y="55372"/>
                  </a:cubicBezTo>
                  <a:cubicBezTo>
                    <a:pt x="411732" y="81026"/>
                    <a:pt x="401699" y="105283"/>
                    <a:pt x="383538" y="123444"/>
                  </a:cubicBezTo>
                  <a:cubicBezTo>
                    <a:pt x="365377" y="141605"/>
                    <a:pt x="341120" y="151638"/>
                    <a:pt x="315466" y="151638"/>
                  </a:cubicBezTo>
                  <a:cubicBezTo>
                    <a:pt x="289812" y="151638"/>
                    <a:pt x="265555" y="141605"/>
                    <a:pt x="247394" y="123444"/>
                  </a:cubicBezTo>
                  <a:cubicBezTo>
                    <a:pt x="229234" y="105283"/>
                    <a:pt x="219201" y="81026"/>
                    <a:pt x="219201" y="55372"/>
                  </a:cubicBezTo>
                  <a:cubicBezTo>
                    <a:pt x="219201" y="44069"/>
                    <a:pt x="221106" y="33020"/>
                    <a:pt x="224916" y="22479"/>
                  </a:cubicBezTo>
                  <a:close/>
                  <a:moveTo>
                    <a:pt x="390269" y="22479"/>
                  </a:moveTo>
                  <a:lnTo>
                    <a:pt x="391666" y="32004"/>
                  </a:lnTo>
                  <a:lnTo>
                    <a:pt x="344422" y="52324"/>
                  </a:lnTo>
                  <a:cubicBezTo>
                    <a:pt x="340866" y="53848"/>
                    <a:pt x="338326" y="57150"/>
                    <a:pt x="337818" y="61087"/>
                  </a:cubicBezTo>
                  <a:lnTo>
                    <a:pt x="331722" y="103124"/>
                  </a:lnTo>
                  <a:cubicBezTo>
                    <a:pt x="331214" y="106934"/>
                    <a:pt x="332611" y="110871"/>
                    <a:pt x="335659" y="113411"/>
                  </a:cubicBezTo>
                  <a:lnTo>
                    <a:pt x="375283" y="146304"/>
                  </a:lnTo>
                  <a:lnTo>
                    <a:pt x="362456" y="174498"/>
                  </a:lnTo>
                  <a:lnTo>
                    <a:pt x="311656" y="166116"/>
                  </a:lnTo>
                  <a:cubicBezTo>
                    <a:pt x="311021" y="165989"/>
                    <a:pt x="310386" y="165989"/>
                    <a:pt x="309878" y="165989"/>
                  </a:cubicBezTo>
                  <a:cubicBezTo>
                    <a:pt x="306703" y="165989"/>
                    <a:pt x="303528" y="167386"/>
                    <a:pt x="301369" y="169926"/>
                  </a:cubicBezTo>
                  <a:lnTo>
                    <a:pt x="454530" y="201930"/>
                  </a:lnTo>
                  <a:cubicBezTo>
                    <a:pt x="451990" y="204851"/>
                    <a:pt x="451101" y="208915"/>
                    <a:pt x="452371" y="212725"/>
                  </a:cubicBezTo>
                  <a:lnTo>
                    <a:pt x="467865" y="261747"/>
                  </a:lnTo>
                  <a:lnTo>
                    <a:pt x="441831" y="278511"/>
                  </a:lnTo>
                  <a:lnTo>
                    <a:pt x="403731" y="243967"/>
                  </a:lnTo>
                  <a:cubicBezTo>
                    <a:pt x="401699" y="242062"/>
                    <a:pt x="398905" y="241046"/>
                    <a:pt x="396238" y="241046"/>
                  </a:cubicBezTo>
                  <a:cubicBezTo>
                    <a:pt x="395222" y="241046"/>
                    <a:pt x="394079" y="241173"/>
                    <a:pt x="393063" y="241554"/>
                  </a:cubicBezTo>
                  <a:lnTo>
                    <a:pt x="352296" y="253492"/>
                  </a:lnTo>
                  <a:cubicBezTo>
                    <a:pt x="348486" y="254635"/>
                    <a:pt x="345692" y="257556"/>
                    <a:pt x="344676" y="261366"/>
                  </a:cubicBezTo>
                  <a:lnTo>
                    <a:pt x="330960" y="310896"/>
                  </a:lnTo>
                  <a:lnTo>
                    <a:pt x="300099" y="310896"/>
                  </a:lnTo>
                  <a:lnTo>
                    <a:pt x="286637" y="261239"/>
                  </a:lnTo>
                  <a:cubicBezTo>
                    <a:pt x="285621" y="257429"/>
                    <a:pt x="282700" y="254508"/>
                    <a:pt x="279017" y="253365"/>
                  </a:cubicBezTo>
                  <a:lnTo>
                    <a:pt x="238251" y="241427"/>
                  </a:lnTo>
                  <a:cubicBezTo>
                    <a:pt x="237235" y="241173"/>
                    <a:pt x="236092" y="240919"/>
                    <a:pt x="235076" y="240919"/>
                  </a:cubicBezTo>
                  <a:cubicBezTo>
                    <a:pt x="232282" y="240919"/>
                    <a:pt x="229615" y="241935"/>
                    <a:pt x="227583" y="243840"/>
                  </a:cubicBezTo>
                  <a:lnTo>
                    <a:pt x="189483" y="278384"/>
                  </a:lnTo>
                  <a:lnTo>
                    <a:pt x="163448" y="261620"/>
                  </a:lnTo>
                  <a:lnTo>
                    <a:pt x="178942" y="212598"/>
                  </a:lnTo>
                  <a:cubicBezTo>
                    <a:pt x="180085" y="208915"/>
                    <a:pt x="179323" y="204851"/>
                    <a:pt x="176783" y="201803"/>
                  </a:cubicBezTo>
                  <a:lnTo>
                    <a:pt x="148970" y="169672"/>
                  </a:lnTo>
                  <a:cubicBezTo>
                    <a:pt x="146811" y="167132"/>
                    <a:pt x="143763" y="165735"/>
                    <a:pt x="140461" y="165735"/>
                  </a:cubicBezTo>
                  <a:cubicBezTo>
                    <a:pt x="139826" y="165735"/>
                    <a:pt x="139191" y="165735"/>
                    <a:pt x="138683" y="165862"/>
                  </a:cubicBezTo>
                  <a:lnTo>
                    <a:pt x="87883" y="174244"/>
                  </a:lnTo>
                  <a:lnTo>
                    <a:pt x="75056" y="146050"/>
                  </a:lnTo>
                  <a:lnTo>
                    <a:pt x="114680" y="113157"/>
                  </a:lnTo>
                  <a:cubicBezTo>
                    <a:pt x="117728" y="110617"/>
                    <a:pt x="119125" y="106807"/>
                    <a:pt x="118617" y="102870"/>
                  </a:cubicBezTo>
                  <a:lnTo>
                    <a:pt x="112521" y="60833"/>
                  </a:lnTo>
                  <a:cubicBezTo>
                    <a:pt x="112013" y="57023"/>
                    <a:pt x="109473" y="53721"/>
                    <a:pt x="105917" y="52070"/>
                  </a:cubicBezTo>
                  <a:lnTo>
                    <a:pt x="58292" y="32004"/>
                  </a:lnTo>
                  <a:lnTo>
                    <a:pt x="59689" y="22479"/>
                  </a:lnTo>
                  <a:lnTo>
                    <a:pt x="201421" y="22479"/>
                  </a:lnTo>
                  <a:cubicBezTo>
                    <a:pt x="198373" y="33147"/>
                    <a:pt x="196849" y="44069"/>
                    <a:pt x="196849" y="55372"/>
                  </a:cubicBezTo>
                  <a:cubicBezTo>
                    <a:pt x="196849" y="71374"/>
                    <a:pt x="200024" y="86995"/>
                    <a:pt x="206120" y="101600"/>
                  </a:cubicBezTo>
                  <a:cubicBezTo>
                    <a:pt x="212089" y="115697"/>
                    <a:pt x="220598" y="128397"/>
                    <a:pt x="231520" y="139319"/>
                  </a:cubicBezTo>
                  <a:cubicBezTo>
                    <a:pt x="242442" y="150241"/>
                    <a:pt x="255141" y="158750"/>
                    <a:pt x="269238" y="164719"/>
                  </a:cubicBezTo>
                  <a:cubicBezTo>
                    <a:pt x="283843" y="170942"/>
                    <a:pt x="299464" y="173990"/>
                    <a:pt x="315466" y="173990"/>
                  </a:cubicBezTo>
                  <a:cubicBezTo>
                    <a:pt x="331468" y="173990"/>
                    <a:pt x="347089" y="170815"/>
                    <a:pt x="361694" y="164719"/>
                  </a:cubicBezTo>
                  <a:cubicBezTo>
                    <a:pt x="375791" y="158750"/>
                    <a:pt x="388491" y="150241"/>
                    <a:pt x="399413" y="139319"/>
                  </a:cubicBezTo>
                  <a:cubicBezTo>
                    <a:pt x="410335" y="128397"/>
                    <a:pt x="418844" y="115697"/>
                    <a:pt x="424813" y="101600"/>
                  </a:cubicBezTo>
                  <a:cubicBezTo>
                    <a:pt x="431036" y="86995"/>
                    <a:pt x="434084" y="71374"/>
                    <a:pt x="434084" y="55372"/>
                  </a:cubicBezTo>
                  <a:cubicBezTo>
                    <a:pt x="434084" y="44069"/>
                    <a:pt x="432560" y="33147"/>
                    <a:pt x="429512" y="22479"/>
                  </a:cubicBezTo>
                  <a:close/>
                  <a:moveTo>
                    <a:pt x="11176" y="0"/>
                  </a:moveTo>
                  <a:cubicBezTo>
                    <a:pt x="4953" y="0"/>
                    <a:pt x="0" y="5080"/>
                    <a:pt x="0" y="11176"/>
                  </a:cubicBezTo>
                  <a:cubicBezTo>
                    <a:pt x="0" y="17272"/>
                    <a:pt x="5080" y="22352"/>
                    <a:pt x="11176" y="22352"/>
                  </a:cubicBezTo>
                  <a:lnTo>
                    <a:pt x="36957" y="22352"/>
                  </a:lnTo>
                  <a:lnTo>
                    <a:pt x="34798" y="37084"/>
                  </a:lnTo>
                  <a:cubicBezTo>
                    <a:pt x="34036" y="42164"/>
                    <a:pt x="36830" y="46990"/>
                    <a:pt x="41401" y="49022"/>
                  </a:cubicBezTo>
                  <a:lnTo>
                    <a:pt x="90804" y="70358"/>
                  </a:lnTo>
                  <a:lnTo>
                    <a:pt x="95122" y="99949"/>
                  </a:lnTo>
                  <a:lnTo>
                    <a:pt x="53720" y="134239"/>
                  </a:lnTo>
                  <a:cubicBezTo>
                    <a:pt x="49783" y="137541"/>
                    <a:pt x="48513" y="142875"/>
                    <a:pt x="50672" y="147574"/>
                  </a:cubicBezTo>
                  <a:lnTo>
                    <a:pt x="70738" y="191389"/>
                  </a:lnTo>
                  <a:cubicBezTo>
                    <a:pt x="72643" y="195453"/>
                    <a:pt x="76580" y="197993"/>
                    <a:pt x="80898" y="197993"/>
                  </a:cubicBezTo>
                  <a:cubicBezTo>
                    <a:pt x="81533" y="197993"/>
                    <a:pt x="82168" y="197993"/>
                    <a:pt x="82676" y="197866"/>
                  </a:cubicBezTo>
                  <a:lnTo>
                    <a:pt x="135762" y="189103"/>
                  </a:lnTo>
                  <a:lnTo>
                    <a:pt x="155447" y="211836"/>
                  </a:lnTo>
                  <a:lnTo>
                    <a:pt x="139191" y="263017"/>
                  </a:lnTo>
                  <a:cubicBezTo>
                    <a:pt x="137667" y="267843"/>
                    <a:pt x="139572" y="273050"/>
                    <a:pt x="143763" y="275844"/>
                  </a:cubicBezTo>
                  <a:lnTo>
                    <a:pt x="184276" y="301879"/>
                  </a:lnTo>
                  <a:cubicBezTo>
                    <a:pt x="186181" y="303022"/>
                    <a:pt x="188213" y="303657"/>
                    <a:pt x="190372" y="303657"/>
                  </a:cubicBezTo>
                  <a:cubicBezTo>
                    <a:pt x="193039" y="303657"/>
                    <a:pt x="195833" y="302641"/>
                    <a:pt x="197865" y="300736"/>
                  </a:cubicBezTo>
                  <a:lnTo>
                    <a:pt x="237743" y="264668"/>
                  </a:lnTo>
                  <a:lnTo>
                    <a:pt x="266444" y="273050"/>
                  </a:lnTo>
                  <a:lnTo>
                    <a:pt x="280541" y="324866"/>
                  </a:lnTo>
                  <a:cubicBezTo>
                    <a:pt x="281430" y="328295"/>
                    <a:pt x="283843" y="330962"/>
                    <a:pt x="287018" y="332232"/>
                  </a:cubicBezTo>
                  <a:lnTo>
                    <a:pt x="344041" y="332232"/>
                  </a:lnTo>
                  <a:cubicBezTo>
                    <a:pt x="347089" y="330962"/>
                    <a:pt x="349502" y="328295"/>
                    <a:pt x="350518" y="324866"/>
                  </a:cubicBezTo>
                  <a:lnTo>
                    <a:pt x="364615" y="273050"/>
                  </a:lnTo>
                  <a:lnTo>
                    <a:pt x="393317" y="264668"/>
                  </a:lnTo>
                  <a:lnTo>
                    <a:pt x="393444" y="264668"/>
                  </a:lnTo>
                  <a:lnTo>
                    <a:pt x="433322" y="300736"/>
                  </a:lnTo>
                  <a:cubicBezTo>
                    <a:pt x="435481" y="302641"/>
                    <a:pt x="438148" y="303657"/>
                    <a:pt x="440814" y="303657"/>
                  </a:cubicBezTo>
                  <a:cubicBezTo>
                    <a:pt x="442974" y="303657"/>
                    <a:pt x="445006" y="303022"/>
                    <a:pt x="446910" y="301879"/>
                  </a:cubicBezTo>
                  <a:lnTo>
                    <a:pt x="487423" y="275844"/>
                  </a:lnTo>
                  <a:cubicBezTo>
                    <a:pt x="491741" y="273050"/>
                    <a:pt x="493646" y="267843"/>
                    <a:pt x="491995" y="263017"/>
                  </a:cubicBezTo>
                  <a:lnTo>
                    <a:pt x="475612" y="211836"/>
                  </a:lnTo>
                  <a:lnTo>
                    <a:pt x="495170" y="189230"/>
                  </a:lnTo>
                  <a:lnTo>
                    <a:pt x="548256" y="197993"/>
                  </a:lnTo>
                  <a:cubicBezTo>
                    <a:pt x="548891" y="198120"/>
                    <a:pt x="549526" y="198120"/>
                    <a:pt x="550034" y="198120"/>
                  </a:cubicBezTo>
                  <a:cubicBezTo>
                    <a:pt x="554352" y="198120"/>
                    <a:pt x="558416" y="195580"/>
                    <a:pt x="560194" y="191516"/>
                  </a:cubicBezTo>
                  <a:lnTo>
                    <a:pt x="580260" y="147701"/>
                  </a:lnTo>
                  <a:cubicBezTo>
                    <a:pt x="582419" y="143129"/>
                    <a:pt x="581149" y="137668"/>
                    <a:pt x="577212" y="134366"/>
                  </a:cubicBezTo>
                  <a:lnTo>
                    <a:pt x="535810" y="100076"/>
                  </a:lnTo>
                  <a:lnTo>
                    <a:pt x="540128" y="70358"/>
                  </a:lnTo>
                  <a:lnTo>
                    <a:pt x="589531" y="49022"/>
                  </a:lnTo>
                  <a:cubicBezTo>
                    <a:pt x="594230" y="46990"/>
                    <a:pt x="596897" y="42164"/>
                    <a:pt x="596135" y="37084"/>
                  </a:cubicBezTo>
                  <a:lnTo>
                    <a:pt x="593976" y="22352"/>
                  </a:lnTo>
                  <a:lnTo>
                    <a:pt x="619757" y="22352"/>
                  </a:lnTo>
                  <a:cubicBezTo>
                    <a:pt x="623186" y="22352"/>
                    <a:pt x="626361" y="20828"/>
                    <a:pt x="628393" y="18288"/>
                  </a:cubicBezTo>
                  <a:lnTo>
                    <a:pt x="628393" y="4064"/>
                  </a:lnTo>
                  <a:cubicBezTo>
                    <a:pt x="626361" y="1651"/>
                    <a:pt x="623186" y="0"/>
                    <a:pt x="6197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631441" cy="629666"/>
            </a:xfrm>
            <a:custGeom>
              <a:avLst/>
              <a:gdLst/>
              <a:ahLst/>
              <a:cxnLst/>
              <a:rect l="l" t="t" r="r" b="b"/>
              <a:pathLst>
                <a:path w="631441" h="629666">
                  <a:moveTo>
                    <a:pt x="0" y="629666"/>
                  </a:moveTo>
                  <a:lnTo>
                    <a:pt x="631441" y="629666"/>
                  </a:lnTo>
                  <a:lnTo>
                    <a:pt x="6314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-63503" y="6268555"/>
            <a:ext cx="9149077" cy="1013689"/>
          </a:xfrm>
          <a:custGeom>
            <a:avLst/>
            <a:gdLst/>
            <a:ahLst/>
            <a:cxnLst/>
            <a:rect l="l" t="t" r="r" b="b"/>
            <a:pathLst>
              <a:path w="9149077" h="1013689">
                <a:moveTo>
                  <a:pt x="0" y="0"/>
                </a:moveTo>
                <a:lnTo>
                  <a:pt x="9149077" y="0"/>
                </a:lnTo>
                <a:lnTo>
                  <a:pt x="9149077" y="1013689"/>
                </a:lnTo>
                <a:lnTo>
                  <a:pt x="0" y="10136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83140" y="499465"/>
            <a:ext cx="6916236" cy="133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6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Limitations </a:t>
            </a:r>
            <a:endParaRPr lang="en-US" sz="6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  <a:p>
            <a:pPr algn="l">
              <a:lnSpc>
                <a:spcPts val="2850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840357" y="2035034"/>
            <a:ext cx="8072887" cy="315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Large volumes of security logs increase investigation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535"/>
              </a:lnSpc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 time.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AI models may generate incorrect or unsupported findings.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</a:t>
            </a: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Traditional prompt-based safeguards cannot guarantee 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535"/>
              </a:lnSpc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 </a:t>
            </a: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factual accuracy.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Manual verification of investigation results is time-consuming.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Security findings may lack direct links to original forensic evidence.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Vague evaluation methods can overestimate investigation accuracy.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91160" lvl="1" indent="-195580" algn="l">
              <a:lnSpc>
                <a:spcPts val="2535"/>
              </a:lnSpc>
              <a:buFont typeface="Arial" panose="020B0604020202020204"/>
              <a:buChar char="•"/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Complex investigations require correlation across multiple 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 </a:t>
            </a:r>
            <a:r>
              <a:rPr lang="en-US" sz="181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evidence sources.</a:t>
            </a:r>
            <a:endParaRPr lang="en-US" sz="181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828800"/>
            <a:ext cx="1197616" cy="4078996"/>
            <a:chOff x="0" y="0"/>
            <a:chExt cx="1197623" cy="4078999"/>
          </a:xfrm>
        </p:grpSpPr>
        <p:sp>
          <p:nvSpPr>
            <p:cNvPr id="3" name="Freeform 3"/>
            <p:cNvSpPr/>
            <p:nvPr/>
          </p:nvSpPr>
          <p:spPr>
            <a:xfrm>
              <a:off x="0" y="841883"/>
              <a:ext cx="1197614" cy="2395220"/>
            </a:xfrm>
            <a:custGeom>
              <a:avLst/>
              <a:gdLst/>
              <a:ahLst/>
              <a:cxnLst/>
              <a:rect l="l" t="t" r="r" b="b"/>
              <a:pathLst>
                <a:path w="1197614" h="2395220">
                  <a:moveTo>
                    <a:pt x="0" y="0"/>
                  </a:moveTo>
                  <a:lnTo>
                    <a:pt x="0" y="2395221"/>
                  </a:lnTo>
                  <a:lnTo>
                    <a:pt x="1197614" y="1197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-63503" y="-63503"/>
            <a:ext cx="1673285" cy="1344520"/>
            <a:chOff x="0" y="0"/>
            <a:chExt cx="1673288" cy="1344524"/>
          </a:xfrm>
        </p:grpSpPr>
        <p:sp>
          <p:nvSpPr>
            <p:cNvPr id="5" name="Freeform 5"/>
            <p:cNvSpPr/>
            <p:nvPr/>
          </p:nvSpPr>
          <p:spPr>
            <a:xfrm>
              <a:off x="67310" y="63500"/>
              <a:ext cx="1351406" cy="911102"/>
            </a:xfrm>
            <a:custGeom>
              <a:avLst/>
              <a:gdLst/>
              <a:ahLst/>
              <a:cxnLst/>
              <a:rect l="l" t="t" r="r" b="b"/>
              <a:pathLst>
                <a:path w="1351406" h="911102">
                  <a:moveTo>
                    <a:pt x="0" y="347093"/>
                  </a:moveTo>
                  <a:lnTo>
                    <a:pt x="0" y="0"/>
                  </a:lnTo>
                  <a:lnTo>
                    <a:pt x="1351406" y="0"/>
                  </a:lnTo>
                  <a:lnTo>
                    <a:pt x="516763" y="911102"/>
                  </a:lnTo>
                  <a:lnTo>
                    <a:pt x="0" y="347093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7310" y="63500"/>
              <a:ext cx="767715" cy="909196"/>
            </a:xfrm>
            <a:custGeom>
              <a:avLst/>
              <a:gdLst/>
              <a:ahLst/>
              <a:cxnLst/>
              <a:rect l="l" t="t" r="r" b="b"/>
              <a:pathLst>
                <a:path w="767715" h="909196">
                  <a:moveTo>
                    <a:pt x="0" y="347093"/>
                  </a:moveTo>
                  <a:lnTo>
                    <a:pt x="0" y="0"/>
                  </a:lnTo>
                  <a:lnTo>
                    <a:pt x="200279" y="0"/>
                  </a:lnTo>
                  <a:lnTo>
                    <a:pt x="767715" y="633352"/>
                  </a:lnTo>
                  <a:lnTo>
                    <a:pt x="515112" y="909197"/>
                  </a:lnTo>
                  <a:lnTo>
                    <a:pt x="0" y="34709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7310" y="63500"/>
              <a:ext cx="1538858" cy="1217554"/>
            </a:xfrm>
            <a:custGeom>
              <a:avLst/>
              <a:gdLst/>
              <a:ahLst/>
              <a:cxnLst/>
              <a:rect l="l" t="t" r="r" b="b"/>
              <a:pathLst>
                <a:path w="1538858" h="1217554">
                  <a:moveTo>
                    <a:pt x="0" y="755526"/>
                  </a:moveTo>
                  <a:lnTo>
                    <a:pt x="0" y="547245"/>
                  </a:lnTo>
                  <a:lnTo>
                    <a:pt x="423291" y="1009273"/>
                  </a:lnTo>
                  <a:lnTo>
                    <a:pt x="1351279" y="0"/>
                  </a:lnTo>
                  <a:lnTo>
                    <a:pt x="1538858" y="0"/>
                  </a:lnTo>
                  <a:lnTo>
                    <a:pt x="423291" y="1217554"/>
                  </a:lnTo>
                  <a:lnTo>
                    <a:pt x="0" y="75552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546351" cy="1217300"/>
            </a:xfrm>
            <a:custGeom>
              <a:avLst/>
              <a:gdLst/>
              <a:ahLst/>
              <a:cxnLst/>
              <a:rect l="l" t="t" r="r" b="b"/>
              <a:pathLst>
                <a:path w="1546351" h="1217300">
                  <a:moveTo>
                    <a:pt x="0" y="1217300"/>
                  </a:moveTo>
                  <a:lnTo>
                    <a:pt x="1546351" y="1217300"/>
                  </a:lnTo>
                  <a:lnTo>
                    <a:pt x="15463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8557955" y="0"/>
            <a:ext cx="1195645" cy="3742944"/>
            <a:chOff x="0" y="0"/>
            <a:chExt cx="1195641" cy="3742944"/>
          </a:xfrm>
        </p:grpSpPr>
        <p:sp>
          <p:nvSpPr>
            <p:cNvPr id="10" name="Freeform 10"/>
            <p:cNvSpPr/>
            <p:nvPr/>
          </p:nvSpPr>
          <p:spPr>
            <a:xfrm>
              <a:off x="0" y="507746"/>
              <a:ext cx="1195578" cy="2391284"/>
            </a:xfrm>
            <a:custGeom>
              <a:avLst/>
              <a:gdLst/>
              <a:ahLst/>
              <a:cxnLst/>
              <a:rect l="l" t="t" r="r" b="b"/>
              <a:pathLst>
                <a:path w="1195578" h="2391284">
                  <a:moveTo>
                    <a:pt x="1195578" y="0"/>
                  </a:moveTo>
                  <a:lnTo>
                    <a:pt x="0" y="1195706"/>
                  </a:lnTo>
                  <a:lnTo>
                    <a:pt x="1195578" y="2391284"/>
                  </a:lnTo>
                  <a:lnTo>
                    <a:pt x="1195578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-63503" y="5290023"/>
            <a:ext cx="9883645" cy="2091728"/>
            <a:chOff x="0" y="0"/>
            <a:chExt cx="9883648" cy="2091728"/>
          </a:xfrm>
        </p:grpSpPr>
        <p:sp>
          <p:nvSpPr>
            <p:cNvPr id="12" name="Freeform 12"/>
            <p:cNvSpPr/>
            <p:nvPr/>
          </p:nvSpPr>
          <p:spPr>
            <a:xfrm>
              <a:off x="63500" y="1262254"/>
              <a:ext cx="9021953" cy="762889"/>
            </a:xfrm>
            <a:custGeom>
              <a:avLst/>
              <a:gdLst/>
              <a:ahLst/>
              <a:cxnLst/>
              <a:rect l="l" t="t" r="r" b="b"/>
              <a:pathLst>
                <a:path w="9021953" h="762889">
                  <a:moveTo>
                    <a:pt x="0" y="0"/>
                  </a:moveTo>
                  <a:lnTo>
                    <a:pt x="0" y="762889"/>
                  </a:lnTo>
                  <a:lnTo>
                    <a:pt x="9021953" y="762889"/>
                  </a:lnTo>
                  <a:lnTo>
                    <a:pt x="9021953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7964043" y="586105"/>
              <a:ext cx="1853057" cy="1439038"/>
            </a:xfrm>
            <a:custGeom>
              <a:avLst/>
              <a:gdLst/>
              <a:ahLst/>
              <a:cxnLst/>
              <a:rect l="l" t="t" r="r" b="b"/>
              <a:pathLst>
                <a:path w="1853057" h="1439038">
                  <a:moveTo>
                    <a:pt x="1318514" y="0"/>
                  </a:moveTo>
                  <a:lnTo>
                    <a:pt x="0" y="1439038"/>
                  </a:lnTo>
                  <a:lnTo>
                    <a:pt x="1853057" y="1439038"/>
                  </a:lnTo>
                  <a:lnTo>
                    <a:pt x="1853057" y="583312"/>
                  </a:lnTo>
                  <a:lnTo>
                    <a:pt x="1318514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8854186" y="589407"/>
              <a:ext cx="962914" cy="1435863"/>
            </a:xfrm>
            <a:custGeom>
              <a:avLst/>
              <a:gdLst/>
              <a:ahLst/>
              <a:cxnLst/>
              <a:rect l="l" t="t" r="r" b="b"/>
              <a:pathLst>
                <a:path w="962914" h="1435863">
                  <a:moveTo>
                    <a:pt x="431165" y="0"/>
                  </a:moveTo>
                  <a:lnTo>
                    <a:pt x="0" y="470790"/>
                  </a:lnTo>
                  <a:lnTo>
                    <a:pt x="864743" y="1435863"/>
                  </a:lnTo>
                  <a:lnTo>
                    <a:pt x="962914" y="1435863"/>
                  </a:lnTo>
                  <a:lnTo>
                    <a:pt x="962914" y="580137"/>
                  </a:lnTo>
                  <a:lnTo>
                    <a:pt x="431165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7644257" y="64516"/>
              <a:ext cx="2172843" cy="1960627"/>
            </a:xfrm>
            <a:custGeom>
              <a:avLst/>
              <a:gdLst/>
              <a:ahLst/>
              <a:cxnLst/>
              <a:rect l="l" t="t" r="r" b="b"/>
              <a:pathLst>
                <a:path w="2172843" h="1960627">
                  <a:moveTo>
                    <a:pt x="1796415" y="0"/>
                  </a:moveTo>
                  <a:lnTo>
                    <a:pt x="0" y="1960627"/>
                  </a:lnTo>
                  <a:lnTo>
                    <a:pt x="320420" y="1960627"/>
                  </a:lnTo>
                  <a:lnTo>
                    <a:pt x="1797685" y="354076"/>
                  </a:lnTo>
                  <a:lnTo>
                    <a:pt x="2172843" y="763397"/>
                  </a:lnTo>
                  <a:lnTo>
                    <a:pt x="2172843" y="407924"/>
                  </a:lnTo>
                  <a:lnTo>
                    <a:pt x="179908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7532116" y="63500"/>
              <a:ext cx="2284984" cy="1961643"/>
            </a:xfrm>
            <a:custGeom>
              <a:avLst/>
              <a:gdLst/>
              <a:ahLst/>
              <a:cxnLst/>
              <a:rect l="l" t="t" r="r" b="b"/>
              <a:pathLst>
                <a:path w="2284984" h="1961643">
                  <a:moveTo>
                    <a:pt x="0" y="0"/>
                  </a:moveTo>
                  <a:lnTo>
                    <a:pt x="0" y="1961643"/>
                  </a:lnTo>
                  <a:lnTo>
                    <a:pt x="2284984" y="1961643"/>
                  </a:lnTo>
                  <a:lnTo>
                    <a:pt x="228498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882673" y="757180"/>
            <a:ext cx="6588938" cy="115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Problem Statement</a:t>
            </a:r>
            <a:endParaRPr lang="en-US" sz="6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93003" y="2649379"/>
            <a:ext cx="69847" cy="42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</a:t>
            </a:r>
            <a:endParaRPr lang="en-US" sz="2200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62850" y="2268474"/>
            <a:ext cx="7274129" cy="316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Modern Security Operations Centers face alert fatigue, massive log volumes, and a shortage of skilled security analysts.</a:t>
            </a:r>
            <a:endParaRPr lang="en-US" sz="1650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Unconstrained AI models may generate convincing but unsupported findings, creating risks during cyber investigations.</a:t>
            </a:r>
            <a:endParaRPr lang="en-US" sz="1650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Traditional prompting techniques cannot guarantee that every AI-generated claim is supported by evidence.</a:t>
            </a:r>
            <a:endParaRPr lang="en-US" sz="1650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AACIP addresses the need for a secure and traceable cyber investigation system that validates findings, preserves evidence provenance, and distinguishes verified observations from AI-generated conclusions.</a:t>
            </a:r>
            <a:endParaRPr lang="en-US" sz="1650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3503" y="4652077"/>
            <a:ext cx="9880597" cy="2726626"/>
            <a:chOff x="0" y="0"/>
            <a:chExt cx="9880600" cy="272662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9753600" cy="2599565"/>
            </a:xfrm>
            <a:custGeom>
              <a:avLst/>
              <a:gdLst/>
              <a:ahLst/>
              <a:cxnLst/>
              <a:rect l="l" t="t" r="r" b="b"/>
              <a:pathLst>
                <a:path w="9753600" h="2599565">
                  <a:moveTo>
                    <a:pt x="0" y="0"/>
                  </a:moveTo>
                  <a:lnTo>
                    <a:pt x="0" y="2599565"/>
                  </a:lnTo>
                  <a:lnTo>
                    <a:pt x="9753600" y="259956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9017508" cy="2599565"/>
            </a:xfrm>
            <a:custGeom>
              <a:avLst/>
              <a:gdLst/>
              <a:ahLst/>
              <a:cxnLst/>
              <a:rect l="l" t="t" r="r" b="b"/>
              <a:pathLst>
                <a:path w="9017508" h="2599565">
                  <a:moveTo>
                    <a:pt x="0" y="0"/>
                  </a:moveTo>
                  <a:lnTo>
                    <a:pt x="9017508" y="0"/>
                  </a:lnTo>
                  <a:lnTo>
                    <a:pt x="9017508" y="2599565"/>
                  </a:lnTo>
                  <a:lnTo>
                    <a:pt x="0" y="2599565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79323" y="1231139"/>
              <a:ext cx="95504" cy="95504"/>
            </a:xfrm>
            <a:custGeom>
              <a:avLst/>
              <a:gdLst/>
              <a:ahLst/>
              <a:cxnLst/>
              <a:rect l="l" t="t" r="r" b="b"/>
              <a:pathLst>
                <a:path w="95504" h="95504">
                  <a:moveTo>
                    <a:pt x="95504" y="47752"/>
                  </a:moveTo>
                  <a:cubicBezTo>
                    <a:pt x="95504" y="54102"/>
                    <a:pt x="94234" y="60198"/>
                    <a:pt x="91821" y="66040"/>
                  </a:cubicBezTo>
                  <a:cubicBezTo>
                    <a:pt x="89408" y="71882"/>
                    <a:pt x="85979" y="76962"/>
                    <a:pt x="81534" y="81534"/>
                  </a:cubicBezTo>
                  <a:cubicBezTo>
                    <a:pt x="77089" y="86106"/>
                    <a:pt x="71882" y="89408"/>
                    <a:pt x="66040" y="91821"/>
                  </a:cubicBezTo>
                  <a:cubicBezTo>
                    <a:pt x="60198" y="94234"/>
                    <a:pt x="54102" y="95504"/>
                    <a:pt x="47752" y="95504"/>
                  </a:cubicBezTo>
                  <a:cubicBezTo>
                    <a:pt x="41402" y="95504"/>
                    <a:pt x="35306" y="94234"/>
                    <a:pt x="29464" y="91821"/>
                  </a:cubicBezTo>
                  <a:cubicBezTo>
                    <a:pt x="23622" y="89408"/>
                    <a:pt x="18542" y="85979"/>
                    <a:pt x="13970" y="81534"/>
                  </a:cubicBezTo>
                  <a:cubicBezTo>
                    <a:pt x="9398" y="77089"/>
                    <a:pt x="6096" y="71882"/>
                    <a:pt x="3683" y="66040"/>
                  </a:cubicBezTo>
                  <a:cubicBezTo>
                    <a:pt x="1270" y="60198"/>
                    <a:pt x="0" y="54102"/>
                    <a:pt x="0" y="47752"/>
                  </a:cubicBezTo>
                  <a:cubicBezTo>
                    <a:pt x="0" y="41402"/>
                    <a:pt x="1270" y="35306"/>
                    <a:pt x="3683" y="29464"/>
                  </a:cubicBezTo>
                  <a:cubicBezTo>
                    <a:pt x="6096" y="23622"/>
                    <a:pt x="9525" y="18542"/>
                    <a:pt x="13970" y="13970"/>
                  </a:cubicBezTo>
                  <a:cubicBezTo>
                    <a:pt x="18415" y="9398"/>
                    <a:pt x="23622" y="6096"/>
                    <a:pt x="29464" y="3683"/>
                  </a:cubicBezTo>
                  <a:cubicBezTo>
                    <a:pt x="35306" y="1270"/>
                    <a:pt x="41402" y="0"/>
                    <a:pt x="47752" y="0"/>
                  </a:cubicBezTo>
                  <a:cubicBezTo>
                    <a:pt x="54102" y="0"/>
                    <a:pt x="60198" y="1270"/>
                    <a:pt x="66040" y="3683"/>
                  </a:cubicBezTo>
                  <a:cubicBezTo>
                    <a:pt x="71882" y="6096"/>
                    <a:pt x="76962" y="9525"/>
                    <a:pt x="81534" y="13970"/>
                  </a:cubicBezTo>
                  <a:cubicBezTo>
                    <a:pt x="86106" y="18415"/>
                    <a:pt x="89408" y="23622"/>
                    <a:pt x="91821" y="29464"/>
                  </a:cubicBezTo>
                  <a:cubicBezTo>
                    <a:pt x="94234" y="35306"/>
                    <a:pt x="95504" y="41402"/>
                    <a:pt x="95504" y="47752"/>
                  </a:cubicBezTo>
                  <a:close/>
                </a:path>
              </a:pathLst>
            </a:custGeom>
            <a:blipFill>
              <a:blip r:embed="rId1"/>
              <a:stretch>
                <a:fillRect l="-711303" t="-1877475" r="-9534440" b="-205426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6961689" y="-66551"/>
            <a:ext cx="2855414" cy="2180368"/>
            <a:chOff x="0" y="0"/>
            <a:chExt cx="2855417" cy="2180374"/>
          </a:xfrm>
        </p:grpSpPr>
        <p:sp>
          <p:nvSpPr>
            <p:cNvPr id="7" name="Freeform 7"/>
            <p:cNvSpPr/>
            <p:nvPr/>
          </p:nvSpPr>
          <p:spPr>
            <a:xfrm>
              <a:off x="83566" y="66548"/>
              <a:ext cx="2572010" cy="1477011"/>
            </a:xfrm>
            <a:custGeom>
              <a:avLst/>
              <a:gdLst/>
              <a:ahLst/>
              <a:cxnLst/>
              <a:rect l="l" t="t" r="r" b="b"/>
              <a:pathLst>
                <a:path w="2572010" h="1477011">
                  <a:moveTo>
                    <a:pt x="0" y="0"/>
                  </a:moveTo>
                  <a:lnTo>
                    <a:pt x="1476378" y="1477012"/>
                  </a:lnTo>
                  <a:lnTo>
                    <a:pt x="1904496" y="1048767"/>
                  </a:lnTo>
                  <a:lnTo>
                    <a:pt x="2572010" y="380873"/>
                  </a:lnTo>
                  <a:lnTo>
                    <a:pt x="2191136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551943" y="66548"/>
              <a:ext cx="1234697" cy="1847725"/>
            </a:xfrm>
            <a:custGeom>
              <a:avLst/>
              <a:gdLst/>
              <a:ahLst/>
              <a:cxnLst/>
              <a:rect l="l" t="t" r="r" b="b"/>
              <a:pathLst>
                <a:path w="1234697" h="1847725">
                  <a:moveTo>
                    <a:pt x="612269" y="0"/>
                  </a:moveTo>
                  <a:lnTo>
                    <a:pt x="274321" y="338074"/>
                  </a:lnTo>
                  <a:lnTo>
                    <a:pt x="0" y="612522"/>
                  </a:lnTo>
                  <a:lnTo>
                    <a:pt x="435992" y="1048767"/>
                  </a:lnTo>
                  <a:lnTo>
                    <a:pt x="1234697" y="1847725"/>
                  </a:lnTo>
                  <a:lnTo>
                    <a:pt x="1234697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739777" y="66548"/>
              <a:ext cx="2047117" cy="2047877"/>
            </a:xfrm>
            <a:custGeom>
              <a:avLst/>
              <a:gdLst/>
              <a:ahLst/>
              <a:cxnLst/>
              <a:rect l="l" t="t" r="r" b="b"/>
              <a:pathLst>
                <a:path w="2047117" h="2047877">
                  <a:moveTo>
                    <a:pt x="0" y="0"/>
                  </a:moveTo>
                  <a:lnTo>
                    <a:pt x="1148336" y="1148716"/>
                  </a:lnTo>
                  <a:lnTo>
                    <a:pt x="2047117" y="2047877"/>
                  </a:lnTo>
                  <a:lnTo>
                    <a:pt x="2047117" y="1298957"/>
                  </a:lnTo>
                  <a:lnTo>
                    <a:pt x="748666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954788" y="560579"/>
              <a:ext cx="831979" cy="1005079"/>
            </a:xfrm>
            <a:custGeom>
              <a:avLst/>
              <a:gdLst/>
              <a:ahLst/>
              <a:cxnLst/>
              <a:rect l="l" t="t" r="r" b="b"/>
              <a:pathLst>
                <a:path w="831979" h="1005079">
                  <a:moveTo>
                    <a:pt x="831979" y="1005079"/>
                  </a:moveTo>
                  <a:lnTo>
                    <a:pt x="831979" y="659511"/>
                  </a:lnTo>
                  <a:lnTo>
                    <a:pt x="172721" y="0"/>
                  </a:lnTo>
                  <a:lnTo>
                    <a:pt x="100076" y="72644"/>
                  </a:lnTo>
                  <a:lnTo>
                    <a:pt x="0" y="172720"/>
                  </a:lnTo>
                  <a:lnTo>
                    <a:pt x="207519" y="380238"/>
                  </a:lnTo>
                  <a:lnTo>
                    <a:pt x="831979" y="1004952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3500" y="66548"/>
              <a:ext cx="2728474" cy="2050290"/>
            </a:xfrm>
            <a:custGeom>
              <a:avLst/>
              <a:gdLst/>
              <a:ahLst/>
              <a:cxnLst/>
              <a:rect l="l" t="t" r="r" b="b"/>
              <a:pathLst>
                <a:path w="2728474" h="2050290">
                  <a:moveTo>
                    <a:pt x="0" y="0"/>
                  </a:moveTo>
                  <a:lnTo>
                    <a:pt x="0" y="2050290"/>
                  </a:lnTo>
                  <a:lnTo>
                    <a:pt x="2728474" y="2050290"/>
                  </a:lnTo>
                  <a:lnTo>
                    <a:pt x="27284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48513" y="85268"/>
            <a:ext cx="5875497" cy="111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Proposed</a:t>
            </a:r>
            <a:r>
              <a:rPr lang="en-IN" alt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</a:t>
            </a: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Solution</a:t>
            </a:r>
            <a:endParaRPr lang="en-US" sz="5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17932" y="1619260"/>
            <a:ext cx="76086" cy="40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lang="en-US" sz="220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94363" y="1628785"/>
            <a:ext cx="9059237" cy="261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8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AACIP introduces Architecturally Enforced Evidence Grounding.</a:t>
            </a:r>
            <a:endParaRPr lang="en-US" sz="18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Uploads and validates digital forensic artifacts.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Uses deterministic tools to extract evidence from logs.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Classifies findings as FACT, INFERENCE, HYPOTHESIS, or UNKNOWN.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Enforces grounding invariants G0–G4 and G7.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Builds an evidence-backed graph connecting users, IPs, hosts, and files.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Uses AI agents to formulate and validate competing hypotheses.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Calculates risk using deterministic rules.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26226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Generates structured incident reports with traceable evidence.</a:t>
            </a:r>
            <a:endParaRPr lang="en-US" sz="1650">
              <a:solidFill>
                <a:srgbClr val="26226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48513" y="4806736"/>
            <a:ext cx="3249454" cy="67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Core Principle:</a:t>
            </a:r>
            <a:endParaRPr lang="en-US" sz="40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21954" y="5652735"/>
            <a:ext cx="69847" cy="42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</a:t>
            </a:r>
            <a:endParaRPr lang="en-US" sz="2200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94363" y="5735959"/>
            <a:ext cx="7834551" cy="62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1000" lvl="1" indent="-190500" algn="l">
              <a:lnSpc>
                <a:spcPts val="2470"/>
              </a:lnSpc>
              <a:buFont typeface="Arial" panose="020B0604020202020204"/>
              <a:buChar char="•"/>
            </a:pPr>
            <a:r>
              <a:rPr lang="en-US" sz="1765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"Deterministic tools produce evidence. LLMs reason over evidence.</a:t>
            </a:r>
            <a:endParaRPr lang="en-US" sz="1765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470"/>
              </a:lnSpc>
            </a:pPr>
            <a:r>
              <a:rPr lang="en-US" sz="1765">
                <a:solidFill>
                  <a:srgbClr val="262262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  An LLM is never the unquestioned source of truth."</a:t>
            </a:r>
            <a:endParaRPr lang="en-US" sz="1765">
              <a:solidFill>
                <a:srgbClr val="262262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961689" y="-66551"/>
            <a:ext cx="2855414" cy="2180368"/>
            <a:chOff x="0" y="0"/>
            <a:chExt cx="2855417" cy="2180374"/>
          </a:xfrm>
        </p:grpSpPr>
        <p:sp>
          <p:nvSpPr>
            <p:cNvPr id="3" name="Freeform 3"/>
            <p:cNvSpPr/>
            <p:nvPr/>
          </p:nvSpPr>
          <p:spPr>
            <a:xfrm>
              <a:off x="83566" y="66548"/>
              <a:ext cx="2572010" cy="1477011"/>
            </a:xfrm>
            <a:custGeom>
              <a:avLst/>
              <a:gdLst/>
              <a:ahLst/>
              <a:cxnLst/>
              <a:rect l="l" t="t" r="r" b="b"/>
              <a:pathLst>
                <a:path w="2572010" h="1477011">
                  <a:moveTo>
                    <a:pt x="0" y="0"/>
                  </a:moveTo>
                  <a:lnTo>
                    <a:pt x="1476378" y="1477012"/>
                  </a:lnTo>
                  <a:lnTo>
                    <a:pt x="1904496" y="1048767"/>
                  </a:lnTo>
                  <a:lnTo>
                    <a:pt x="2572010" y="380873"/>
                  </a:lnTo>
                  <a:lnTo>
                    <a:pt x="2191136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551943" y="66548"/>
              <a:ext cx="1234697" cy="1847725"/>
            </a:xfrm>
            <a:custGeom>
              <a:avLst/>
              <a:gdLst/>
              <a:ahLst/>
              <a:cxnLst/>
              <a:rect l="l" t="t" r="r" b="b"/>
              <a:pathLst>
                <a:path w="1234697" h="1847725">
                  <a:moveTo>
                    <a:pt x="612269" y="0"/>
                  </a:moveTo>
                  <a:lnTo>
                    <a:pt x="274321" y="338074"/>
                  </a:lnTo>
                  <a:lnTo>
                    <a:pt x="0" y="612522"/>
                  </a:lnTo>
                  <a:lnTo>
                    <a:pt x="435992" y="1048767"/>
                  </a:lnTo>
                  <a:lnTo>
                    <a:pt x="1234697" y="1847725"/>
                  </a:lnTo>
                  <a:lnTo>
                    <a:pt x="1234697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739777" y="66548"/>
              <a:ext cx="2047117" cy="2047877"/>
            </a:xfrm>
            <a:custGeom>
              <a:avLst/>
              <a:gdLst/>
              <a:ahLst/>
              <a:cxnLst/>
              <a:rect l="l" t="t" r="r" b="b"/>
              <a:pathLst>
                <a:path w="2047117" h="2047877">
                  <a:moveTo>
                    <a:pt x="0" y="0"/>
                  </a:moveTo>
                  <a:lnTo>
                    <a:pt x="1148336" y="1148716"/>
                  </a:lnTo>
                  <a:lnTo>
                    <a:pt x="2047117" y="2047877"/>
                  </a:lnTo>
                  <a:lnTo>
                    <a:pt x="2047117" y="1298957"/>
                  </a:lnTo>
                  <a:lnTo>
                    <a:pt x="748666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954788" y="560579"/>
              <a:ext cx="831979" cy="1005079"/>
            </a:xfrm>
            <a:custGeom>
              <a:avLst/>
              <a:gdLst/>
              <a:ahLst/>
              <a:cxnLst/>
              <a:rect l="l" t="t" r="r" b="b"/>
              <a:pathLst>
                <a:path w="831979" h="1005079">
                  <a:moveTo>
                    <a:pt x="831979" y="1005079"/>
                  </a:moveTo>
                  <a:lnTo>
                    <a:pt x="831979" y="659511"/>
                  </a:lnTo>
                  <a:lnTo>
                    <a:pt x="172721" y="0"/>
                  </a:lnTo>
                  <a:lnTo>
                    <a:pt x="100076" y="72644"/>
                  </a:lnTo>
                  <a:lnTo>
                    <a:pt x="0" y="172720"/>
                  </a:lnTo>
                  <a:lnTo>
                    <a:pt x="207519" y="380238"/>
                  </a:lnTo>
                  <a:lnTo>
                    <a:pt x="831979" y="1004952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6548"/>
              <a:ext cx="2728474" cy="2050290"/>
            </a:xfrm>
            <a:custGeom>
              <a:avLst/>
              <a:gdLst/>
              <a:ahLst/>
              <a:cxnLst/>
              <a:rect l="l" t="t" r="r" b="b"/>
              <a:pathLst>
                <a:path w="2728474" h="2050290">
                  <a:moveTo>
                    <a:pt x="0" y="0"/>
                  </a:moveTo>
                  <a:lnTo>
                    <a:pt x="0" y="2050290"/>
                  </a:lnTo>
                  <a:lnTo>
                    <a:pt x="2728474" y="2050290"/>
                  </a:lnTo>
                  <a:lnTo>
                    <a:pt x="27284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8557955" y="0"/>
            <a:ext cx="1195645" cy="3742944"/>
            <a:chOff x="0" y="0"/>
            <a:chExt cx="1195641" cy="3742944"/>
          </a:xfrm>
        </p:grpSpPr>
        <p:sp>
          <p:nvSpPr>
            <p:cNvPr id="9" name="Freeform 9"/>
            <p:cNvSpPr/>
            <p:nvPr/>
          </p:nvSpPr>
          <p:spPr>
            <a:xfrm>
              <a:off x="0" y="507746"/>
              <a:ext cx="1195578" cy="2391284"/>
            </a:xfrm>
            <a:custGeom>
              <a:avLst/>
              <a:gdLst/>
              <a:ahLst/>
              <a:cxnLst/>
              <a:rect l="l" t="t" r="r" b="b"/>
              <a:pathLst>
                <a:path w="1195578" h="2391284">
                  <a:moveTo>
                    <a:pt x="1195578" y="0"/>
                  </a:moveTo>
                  <a:lnTo>
                    <a:pt x="0" y="1195706"/>
                  </a:lnTo>
                  <a:lnTo>
                    <a:pt x="1195578" y="2391284"/>
                  </a:lnTo>
                  <a:lnTo>
                    <a:pt x="1195578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-63503" y="5565943"/>
            <a:ext cx="9880597" cy="1812922"/>
            <a:chOff x="0" y="0"/>
            <a:chExt cx="9880600" cy="1812925"/>
          </a:xfrm>
        </p:grpSpPr>
        <p:sp>
          <p:nvSpPr>
            <p:cNvPr id="11" name="Freeform 11"/>
            <p:cNvSpPr/>
            <p:nvPr/>
          </p:nvSpPr>
          <p:spPr>
            <a:xfrm>
              <a:off x="63500" y="1644650"/>
              <a:ext cx="9753600" cy="104648"/>
            </a:xfrm>
            <a:custGeom>
              <a:avLst/>
              <a:gdLst/>
              <a:ahLst/>
              <a:cxnLst/>
              <a:rect l="l" t="t" r="r" b="b"/>
              <a:pathLst>
                <a:path w="9753600" h="104648">
                  <a:moveTo>
                    <a:pt x="0" y="0"/>
                  </a:moveTo>
                  <a:lnTo>
                    <a:pt x="0" y="104648"/>
                  </a:lnTo>
                  <a:lnTo>
                    <a:pt x="9753600" y="104648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9112758" y="161036"/>
              <a:ext cx="704216" cy="1006602"/>
            </a:xfrm>
            <a:custGeom>
              <a:avLst/>
              <a:gdLst/>
              <a:ahLst/>
              <a:cxnLst/>
              <a:rect l="l" t="t" r="r" b="b"/>
              <a:pathLst>
                <a:path w="704216" h="1006602">
                  <a:moveTo>
                    <a:pt x="0" y="704215"/>
                  </a:moveTo>
                  <a:lnTo>
                    <a:pt x="70357" y="774700"/>
                  </a:lnTo>
                  <a:lnTo>
                    <a:pt x="253111" y="957453"/>
                  </a:lnTo>
                  <a:lnTo>
                    <a:pt x="302260" y="1006602"/>
                  </a:lnTo>
                  <a:lnTo>
                    <a:pt x="485648" y="823214"/>
                  </a:lnTo>
                  <a:lnTo>
                    <a:pt x="704216" y="604647"/>
                  </a:lnTo>
                  <a:lnTo>
                    <a:pt x="704216" y="0"/>
                  </a:lnTo>
                  <a:lnTo>
                    <a:pt x="0" y="704215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8131302" y="63500"/>
              <a:ext cx="1685671" cy="1685798"/>
            </a:xfrm>
            <a:custGeom>
              <a:avLst/>
              <a:gdLst/>
              <a:ahLst/>
              <a:cxnLst/>
              <a:rect l="l" t="t" r="r" b="b"/>
              <a:pathLst>
                <a:path w="1685671" h="1685798">
                  <a:moveTo>
                    <a:pt x="1685671" y="0"/>
                  </a:moveTo>
                  <a:lnTo>
                    <a:pt x="0" y="1685671"/>
                  </a:lnTo>
                  <a:lnTo>
                    <a:pt x="0" y="1685798"/>
                  </a:lnTo>
                  <a:lnTo>
                    <a:pt x="238252" y="1685798"/>
                  </a:lnTo>
                  <a:lnTo>
                    <a:pt x="1051814" y="872236"/>
                  </a:lnTo>
                  <a:lnTo>
                    <a:pt x="1685671" y="238379"/>
                  </a:lnTo>
                  <a:lnTo>
                    <a:pt x="1685671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9290304" y="1222502"/>
              <a:ext cx="526796" cy="526669"/>
            </a:xfrm>
            <a:custGeom>
              <a:avLst/>
              <a:gdLst/>
              <a:ahLst/>
              <a:cxnLst/>
              <a:rect l="l" t="t" r="r" b="b"/>
              <a:pathLst>
                <a:path w="526796" h="526669">
                  <a:moveTo>
                    <a:pt x="526669" y="0"/>
                  </a:moveTo>
                  <a:lnTo>
                    <a:pt x="92837" y="433832"/>
                  </a:lnTo>
                  <a:lnTo>
                    <a:pt x="0" y="526669"/>
                  </a:lnTo>
                  <a:lnTo>
                    <a:pt x="238379" y="526669"/>
                  </a:lnTo>
                  <a:lnTo>
                    <a:pt x="526796" y="238252"/>
                  </a:lnTo>
                  <a:lnTo>
                    <a:pt x="526796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8735187" y="935101"/>
              <a:ext cx="909955" cy="814197"/>
            </a:xfrm>
            <a:custGeom>
              <a:avLst/>
              <a:gdLst/>
              <a:ahLst/>
              <a:cxnLst/>
              <a:rect l="l" t="t" r="r" b="b"/>
              <a:pathLst>
                <a:path w="909955" h="814197">
                  <a:moveTo>
                    <a:pt x="814070" y="0"/>
                  </a:moveTo>
                  <a:lnTo>
                    <a:pt x="630809" y="183388"/>
                  </a:lnTo>
                  <a:lnTo>
                    <a:pt x="0" y="814197"/>
                  </a:lnTo>
                  <a:lnTo>
                    <a:pt x="191389" y="814197"/>
                  </a:lnTo>
                  <a:lnTo>
                    <a:pt x="909955" y="95631"/>
                  </a:lnTo>
                  <a:lnTo>
                    <a:pt x="863346" y="49149"/>
                  </a:lnTo>
                  <a:lnTo>
                    <a:pt x="814197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9095740" y="1028065"/>
              <a:ext cx="721233" cy="721233"/>
            </a:xfrm>
            <a:custGeom>
              <a:avLst/>
              <a:gdLst/>
              <a:ahLst/>
              <a:cxnLst/>
              <a:rect l="l" t="t" r="r" b="b"/>
              <a:pathLst>
                <a:path w="721233" h="721233">
                  <a:moveTo>
                    <a:pt x="721233" y="0"/>
                  </a:moveTo>
                  <a:lnTo>
                    <a:pt x="0" y="721233"/>
                  </a:lnTo>
                  <a:lnTo>
                    <a:pt x="191262" y="721233"/>
                  </a:lnTo>
                  <a:lnTo>
                    <a:pt x="721107" y="191389"/>
                  </a:lnTo>
                  <a:lnTo>
                    <a:pt x="721107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9339961" y="1136269"/>
              <a:ext cx="477012" cy="533019"/>
            </a:xfrm>
            <a:custGeom>
              <a:avLst/>
              <a:gdLst/>
              <a:ahLst/>
              <a:cxnLst/>
              <a:rect l="l" t="t" r="r" b="b"/>
              <a:pathLst>
                <a:path w="477012" h="533019">
                  <a:moveTo>
                    <a:pt x="0" y="477012"/>
                  </a:moveTo>
                  <a:lnTo>
                    <a:pt x="41529" y="518541"/>
                  </a:lnTo>
                  <a:lnTo>
                    <a:pt x="43053" y="520065"/>
                  </a:lnTo>
                  <a:lnTo>
                    <a:pt x="56007" y="533019"/>
                  </a:lnTo>
                  <a:lnTo>
                    <a:pt x="477012" y="112141"/>
                  </a:lnTo>
                  <a:lnTo>
                    <a:pt x="477012" y="0"/>
                  </a:lnTo>
                  <a:lnTo>
                    <a:pt x="127" y="476885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8131302" y="63500"/>
              <a:ext cx="1685798" cy="1685798"/>
            </a:xfrm>
            <a:custGeom>
              <a:avLst/>
              <a:gdLst/>
              <a:ahLst/>
              <a:cxnLst/>
              <a:rect l="l" t="t" r="r" b="b"/>
              <a:pathLst>
                <a:path w="1685798" h="1685798">
                  <a:moveTo>
                    <a:pt x="0" y="1685798"/>
                  </a:moveTo>
                  <a:lnTo>
                    <a:pt x="1685798" y="1685798"/>
                  </a:lnTo>
                  <a:lnTo>
                    <a:pt x="1685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-63503" y="5709971"/>
            <a:ext cx="9883645" cy="1671771"/>
            <a:chOff x="0" y="0"/>
            <a:chExt cx="9883648" cy="1671777"/>
          </a:xfrm>
        </p:grpSpPr>
        <p:sp>
          <p:nvSpPr>
            <p:cNvPr id="20" name="Freeform 20"/>
            <p:cNvSpPr/>
            <p:nvPr/>
          </p:nvSpPr>
          <p:spPr>
            <a:xfrm>
              <a:off x="63500" y="873761"/>
              <a:ext cx="9753600" cy="731521"/>
            </a:xfrm>
            <a:custGeom>
              <a:avLst/>
              <a:gdLst/>
              <a:ahLst/>
              <a:cxnLst/>
              <a:rect l="l" t="t" r="r" b="b"/>
              <a:pathLst>
                <a:path w="9753600" h="731521">
                  <a:moveTo>
                    <a:pt x="0" y="0"/>
                  </a:moveTo>
                  <a:lnTo>
                    <a:pt x="0" y="731521"/>
                  </a:lnTo>
                  <a:lnTo>
                    <a:pt x="9753600" y="731521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8031607" y="660782"/>
              <a:ext cx="1730883" cy="944500"/>
            </a:xfrm>
            <a:custGeom>
              <a:avLst/>
              <a:gdLst/>
              <a:ahLst/>
              <a:cxnLst/>
              <a:rect l="l" t="t" r="r" b="b"/>
              <a:pathLst>
                <a:path w="1730883" h="944500">
                  <a:moveTo>
                    <a:pt x="865378" y="0"/>
                  </a:moveTo>
                  <a:lnTo>
                    <a:pt x="0" y="944500"/>
                  </a:lnTo>
                  <a:lnTo>
                    <a:pt x="1730883" y="944500"/>
                  </a:lnTo>
                  <a:lnTo>
                    <a:pt x="865378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8407400" y="664465"/>
              <a:ext cx="1355090" cy="940817"/>
            </a:xfrm>
            <a:custGeom>
              <a:avLst/>
              <a:gdLst/>
              <a:ahLst/>
              <a:cxnLst/>
              <a:rect l="l" t="t" r="r" b="b"/>
              <a:pathLst>
                <a:path w="1355090" h="940817">
                  <a:moveTo>
                    <a:pt x="492887" y="0"/>
                  </a:moveTo>
                  <a:lnTo>
                    <a:pt x="0" y="537972"/>
                  </a:lnTo>
                  <a:lnTo>
                    <a:pt x="360934" y="940817"/>
                  </a:lnTo>
                  <a:lnTo>
                    <a:pt x="1355090" y="940817"/>
                  </a:lnTo>
                  <a:lnTo>
                    <a:pt x="492887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7666101" y="65913"/>
              <a:ext cx="2150999" cy="1539369"/>
            </a:xfrm>
            <a:custGeom>
              <a:avLst/>
              <a:gdLst/>
              <a:ahLst/>
              <a:cxnLst/>
              <a:rect l="l" t="t" r="r" b="b"/>
              <a:pathLst>
                <a:path w="2150999" h="1539369">
                  <a:moveTo>
                    <a:pt x="1410462" y="0"/>
                  </a:moveTo>
                  <a:lnTo>
                    <a:pt x="0" y="1539369"/>
                  </a:lnTo>
                  <a:lnTo>
                    <a:pt x="368427" y="1539369"/>
                  </a:lnTo>
                  <a:lnTo>
                    <a:pt x="1413129" y="403352"/>
                  </a:lnTo>
                  <a:lnTo>
                    <a:pt x="2150999" y="1208533"/>
                  </a:lnTo>
                  <a:lnTo>
                    <a:pt x="2150999" y="802260"/>
                  </a:lnTo>
                  <a:lnTo>
                    <a:pt x="1415669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6896735" y="63500"/>
              <a:ext cx="2920365" cy="1541782"/>
            </a:xfrm>
            <a:custGeom>
              <a:avLst/>
              <a:gdLst/>
              <a:ahLst/>
              <a:cxnLst/>
              <a:rect l="l" t="t" r="r" b="b"/>
              <a:pathLst>
                <a:path w="2920365" h="1541782">
                  <a:moveTo>
                    <a:pt x="0" y="0"/>
                  </a:moveTo>
                  <a:lnTo>
                    <a:pt x="0" y="1541782"/>
                  </a:lnTo>
                  <a:lnTo>
                    <a:pt x="2920365" y="1541782"/>
                  </a:lnTo>
                  <a:lnTo>
                    <a:pt x="292036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830462" y="279278"/>
            <a:ext cx="7207655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1">
                <a:solidFill>
                  <a:srgbClr val="063E6A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Technology Used</a:t>
            </a:r>
            <a:endParaRPr lang="en-US" sz="6400" b="1">
              <a:solidFill>
                <a:srgbClr val="063E6A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02902" y="1684649"/>
            <a:ext cx="3489127" cy="156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Backend and Core Engine</a:t>
            </a:r>
            <a:endParaRPr lang="en-US" sz="22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Python 3.12+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FastAPI and Uvicorn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Pydantic v2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SQLAlchemy 2 and Alembic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78319" y="1684649"/>
            <a:ext cx="3110032" cy="184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Database and Security</a:t>
            </a:r>
            <a:endParaRPr lang="en-US" sz="22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SQLite and PostgreSQL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SHA-256 hashing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Argon2 password hashing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PyJWT authentication and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access control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97451" y="3844173"/>
            <a:ext cx="3443049" cy="241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AI and Investigation</a:t>
            </a:r>
            <a:endParaRPr lang="en-US" sz="22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AI-agent orchestration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OpenAI-compatible model 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</a:t>
            </a: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interfaces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NVIDIA NIM, Nemotron, and 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</a:t>
            </a: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DeepSeek R1 integrations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Deterministic log parsers and 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      </a:t>
            </a: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IOC extraction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785241" y="3844173"/>
            <a:ext cx="4236839" cy="156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Frontend and Testing</a:t>
            </a:r>
            <a:endParaRPr lang="en-US" sz="22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Interactive web dashboard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SVG-based evidence graph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Server-Sent Events (SSE)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pytest, httpx, Ruff, and mypy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3503" y="-66551"/>
            <a:ext cx="2023624" cy="2544728"/>
            <a:chOff x="0" y="0"/>
            <a:chExt cx="2023618" cy="2544724"/>
          </a:xfrm>
        </p:grpSpPr>
        <p:sp>
          <p:nvSpPr>
            <p:cNvPr id="3" name="Freeform 3"/>
            <p:cNvSpPr/>
            <p:nvPr/>
          </p:nvSpPr>
          <p:spPr>
            <a:xfrm>
              <a:off x="66167" y="66548"/>
              <a:ext cx="1265300" cy="1268475"/>
            </a:xfrm>
            <a:custGeom>
              <a:avLst/>
              <a:gdLst/>
              <a:ahLst/>
              <a:cxnLst/>
              <a:rect l="l" t="t" r="r" b="b"/>
              <a:pathLst>
                <a:path w="1265300" h="1268475">
                  <a:moveTo>
                    <a:pt x="684910" y="0"/>
                  </a:moveTo>
                  <a:lnTo>
                    <a:pt x="0" y="686562"/>
                  </a:lnTo>
                  <a:lnTo>
                    <a:pt x="0" y="1268475"/>
                  </a:lnTo>
                  <a:lnTo>
                    <a:pt x="1265300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6167" y="675640"/>
              <a:ext cx="1433828" cy="1805431"/>
            </a:xfrm>
            <a:custGeom>
              <a:avLst/>
              <a:gdLst/>
              <a:ahLst/>
              <a:cxnLst/>
              <a:rect l="l" t="t" r="r" b="b"/>
              <a:pathLst>
                <a:path w="1433828" h="1805431">
                  <a:moveTo>
                    <a:pt x="1433828" y="368045"/>
                  </a:moveTo>
                  <a:lnTo>
                    <a:pt x="1172209" y="105790"/>
                  </a:lnTo>
                  <a:lnTo>
                    <a:pt x="1121663" y="55117"/>
                  </a:lnTo>
                  <a:lnTo>
                    <a:pt x="1109344" y="42671"/>
                  </a:lnTo>
                  <a:lnTo>
                    <a:pt x="1066672" y="0"/>
                  </a:lnTo>
                  <a:lnTo>
                    <a:pt x="0" y="1069339"/>
                  </a:lnTo>
                  <a:lnTo>
                    <a:pt x="0" y="1805430"/>
                  </a:lnTo>
                  <a:lnTo>
                    <a:pt x="1433828" y="368045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53924" y="66548"/>
              <a:ext cx="1797556" cy="1294002"/>
            </a:xfrm>
            <a:custGeom>
              <a:avLst/>
              <a:gdLst/>
              <a:ahLst/>
              <a:cxnLst/>
              <a:rect l="l" t="t" r="r" b="b"/>
              <a:pathLst>
                <a:path w="1797556" h="1294002">
                  <a:moveTo>
                    <a:pt x="783970" y="0"/>
                  </a:moveTo>
                  <a:lnTo>
                    <a:pt x="0" y="786002"/>
                  </a:lnTo>
                  <a:lnTo>
                    <a:pt x="86868" y="872997"/>
                  </a:lnTo>
                  <a:lnTo>
                    <a:pt x="99314" y="885443"/>
                  </a:lnTo>
                  <a:lnTo>
                    <a:pt x="196850" y="983233"/>
                  </a:lnTo>
                  <a:lnTo>
                    <a:pt x="401192" y="1188211"/>
                  </a:lnTo>
                  <a:lnTo>
                    <a:pt x="443737" y="1230883"/>
                  </a:lnTo>
                  <a:lnTo>
                    <a:pt x="456183" y="1243329"/>
                  </a:lnTo>
                  <a:lnTo>
                    <a:pt x="506729" y="1294002"/>
                  </a:lnTo>
                  <a:lnTo>
                    <a:pt x="1084325" y="714883"/>
                  </a:lnTo>
                  <a:lnTo>
                    <a:pt x="1797556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167" y="571500"/>
              <a:ext cx="554100" cy="567944"/>
            </a:xfrm>
            <a:custGeom>
              <a:avLst/>
              <a:gdLst/>
              <a:ahLst/>
              <a:cxnLst/>
              <a:rect l="l" t="t" r="r" b="b"/>
              <a:pathLst>
                <a:path w="554100" h="567944">
                  <a:moveTo>
                    <a:pt x="554100" y="12446"/>
                  </a:moveTo>
                  <a:lnTo>
                    <a:pt x="541781" y="0"/>
                  </a:lnTo>
                  <a:lnTo>
                    <a:pt x="0" y="543051"/>
                  </a:lnTo>
                  <a:lnTo>
                    <a:pt x="0" y="567943"/>
                  </a:lnTo>
                  <a:lnTo>
                    <a:pt x="187071" y="380491"/>
                  </a:lnTo>
                  <a:lnTo>
                    <a:pt x="554100" y="124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61795" y="66421"/>
              <a:ext cx="789685" cy="589280"/>
            </a:xfrm>
            <a:custGeom>
              <a:avLst/>
              <a:gdLst/>
              <a:ahLst/>
              <a:cxnLst/>
              <a:rect l="l" t="t" r="r" b="b"/>
              <a:pathLst>
                <a:path w="789685" h="589280">
                  <a:moveTo>
                    <a:pt x="385825" y="127"/>
                  </a:moveTo>
                  <a:lnTo>
                    <a:pt x="0" y="386969"/>
                  </a:lnTo>
                  <a:lnTo>
                    <a:pt x="138938" y="526161"/>
                  </a:lnTo>
                  <a:lnTo>
                    <a:pt x="151384" y="538607"/>
                  </a:lnTo>
                  <a:lnTo>
                    <a:pt x="201930" y="589280"/>
                  </a:lnTo>
                  <a:lnTo>
                    <a:pt x="789685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409828" y="66548"/>
              <a:ext cx="1440432" cy="1431670"/>
            </a:xfrm>
            <a:custGeom>
              <a:avLst/>
              <a:gdLst/>
              <a:ahLst/>
              <a:cxnLst/>
              <a:rect l="l" t="t" r="r" b="b"/>
              <a:pathLst>
                <a:path w="1440432" h="1431670">
                  <a:moveTo>
                    <a:pt x="1415668" y="0"/>
                  </a:moveTo>
                  <a:lnTo>
                    <a:pt x="890905" y="526034"/>
                  </a:lnTo>
                  <a:lnTo>
                    <a:pt x="765683" y="651637"/>
                  </a:lnTo>
                  <a:lnTo>
                    <a:pt x="187960" y="1230756"/>
                  </a:lnTo>
                  <a:lnTo>
                    <a:pt x="0" y="1419224"/>
                  </a:lnTo>
                  <a:lnTo>
                    <a:pt x="12446" y="1431670"/>
                  </a:lnTo>
                  <a:lnTo>
                    <a:pt x="144043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500" y="66548"/>
              <a:ext cx="1896616" cy="2414649"/>
            </a:xfrm>
            <a:custGeom>
              <a:avLst/>
              <a:gdLst/>
              <a:ahLst/>
              <a:cxnLst/>
              <a:rect l="l" t="t" r="r" b="b"/>
              <a:pathLst>
                <a:path w="1896616" h="2414649">
                  <a:moveTo>
                    <a:pt x="0" y="0"/>
                  </a:moveTo>
                  <a:lnTo>
                    <a:pt x="0" y="2414649"/>
                  </a:lnTo>
                  <a:lnTo>
                    <a:pt x="1896616" y="2414649"/>
                  </a:lnTo>
                  <a:lnTo>
                    <a:pt x="18966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-63503" y="5565943"/>
            <a:ext cx="9880597" cy="1812922"/>
            <a:chOff x="0" y="0"/>
            <a:chExt cx="9880600" cy="1812925"/>
          </a:xfrm>
        </p:grpSpPr>
        <p:sp>
          <p:nvSpPr>
            <p:cNvPr id="11" name="Freeform 11"/>
            <p:cNvSpPr/>
            <p:nvPr/>
          </p:nvSpPr>
          <p:spPr>
            <a:xfrm>
              <a:off x="63500" y="1644650"/>
              <a:ext cx="9753600" cy="104648"/>
            </a:xfrm>
            <a:custGeom>
              <a:avLst/>
              <a:gdLst/>
              <a:ahLst/>
              <a:cxnLst/>
              <a:rect l="l" t="t" r="r" b="b"/>
              <a:pathLst>
                <a:path w="9753600" h="104648">
                  <a:moveTo>
                    <a:pt x="0" y="0"/>
                  </a:moveTo>
                  <a:lnTo>
                    <a:pt x="0" y="104648"/>
                  </a:lnTo>
                  <a:lnTo>
                    <a:pt x="9753600" y="104648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9112758" y="161036"/>
              <a:ext cx="704216" cy="1006602"/>
            </a:xfrm>
            <a:custGeom>
              <a:avLst/>
              <a:gdLst/>
              <a:ahLst/>
              <a:cxnLst/>
              <a:rect l="l" t="t" r="r" b="b"/>
              <a:pathLst>
                <a:path w="704216" h="1006602">
                  <a:moveTo>
                    <a:pt x="0" y="704215"/>
                  </a:moveTo>
                  <a:lnTo>
                    <a:pt x="70357" y="774700"/>
                  </a:lnTo>
                  <a:lnTo>
                    <a:pt x="253111" y="957453"/>
                  </a:lnTo>
                  <a:lnTo>
                    <a:pt x="302260" y="1006602"/>
                  </a:lnTo>
                  <a:lnTo>
                    <a:pt x="485648" y="823214"/>
                  </a:lnTo>
                  <a:lnTo>
                    <a:pt x="704216" y="604647"/>
                  </a:lnTo>
                  <a:lnTo>
                    <a:pt x="704216" y="0"/>
                  </a:lnTo>
                  <a:lnTo>
                    <a:pt x="0" y="704215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8131302" y="63500"/>
              <a:ext cx="1685671" cy="1685798"/>
            </a:xfrm>
            <a:custGeom>
              <a:avLst/>
              <a:gdLst/>
              <a:ahLst/>
              <a:cxnLst/>
              <a:rect l="l" t="t" r="r" b="b"/>
              <a:pathLst>
                <a:path w="1685671" h="1685798">
                  <a:moveTo>
                    <a:pt x="1685671" y="0"/>
                  </a:moveTo>
                  <a:lnTo>
                    <a:pt x="0" y="1685671"/>
                  </a:lnTo>
                  <a:lnTo>
                    <a:pt x="0" y="1685798"/>
                  </a:lnTo>
                  <a:lnTo>
                    <a:pt x="238252" y="1685798"/>
                  </a:lnTo>
                  <a:lnTo>
                    <a:pt x="1051814" y="872236"/>
                  </a:lnTo>
                  <a:lnTo>
                    <a:pt x="1685671" y="238379"/>
                  </a:lnTo>
                  <a:lnTo>
                    <a:pt x="1685671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9290304" y="1222502"/>
              <a:ext cx="526796" cy="526669"/>
            </a:xfrm>
            <a:custGeom>
              <a:avLst/>
              <a:gdLst/>
              <a:ahLst/>
              <a:cxnLst/>
              <a:rect l="l" t="t" r="r" b="b"/>
              <a:pathLst>
                <a:path w="526796" h="526669">
                  <a:moveTo>
                    <a:pt x="526669" y="0"/>
                  </a:moveTo>
                  <a:lnTo>
                    <a:pt x="92837" y="433832"/>
                  </a:lnTo>
                  <a:lnTo>
                    <a:pt x="0" y="526669"/>
                  </a:lnTo>
                  <a:lnTo>
                    <a:pt x="238379" y="526669"/>
                  </a:lnTo>
                  <a:lnTo>
                    <a:pt x="526796" y="238252"/>
                  </a:lnTo>
                  <a:lnTo>
                    <a:pt x="526796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8735187" y="935101"/>
              <a:ext cx="909955" cy="814197"/>
            </a:xfrm>
            <a:custGeom>
              <a:avLst/>
              <a:gdLst/>
              <a:ahLst/>
              <a:cxnLst/>
              <a:rect l="l" t="t" r="r" b="b"/>
              <a:pathLst>
                <a:path w="909955" h="814197">
                  <a:moveTo>
                    <a:pt x="814070" y="0"/>
                  </a:moveTo>
                  <a:lnTo>
                    <a:pt x="630809" y="183388"/>
                  </a:lnTo>
                  <a:lnTo>
                    <a:pt x="0" y="814197"/>
                  </a:lnTo>
                  <a:lnTo>
                    <a:pt x="191389" y="814197"/>
                  </a:lnTo>
                  <a:lnTo>
                    <a:pt x="909955" y="95631"/>
                  </a:lnTo>
                  <a:lnTo>
                    <a:pt x="863346" y="49149"/>
                  </a:lnTo>
                  <a:lnTo>
                    <a:pt x="814197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9095740" y="1028065"/>
              <a:ext cx="721233" cy="721233"/>
            </a:xfrm>
            <a:custGeom>
              <a:avLst/>
              <a:gdLst/>
              <a:ahLst/>
              <a:cxnLst/>
              <a:rect l="l" t="t" r="r" b="b"/>
              <a:pathLst>
                <a:path w="721233" h="721233">
                  <a:moveTo>
                    <a:pt x="721233" y="0"/>
                  </a:moveTo>
                  <a:lnTo>
                    <a:pt x="0" y="721233"/>
                  </a:lnTo>
                  <a:lnTo>
                    <a:pt x="191262" y="721233"/>
                  </a:lnTo>
                  <a:lnTo>
                    <a:pt x="721107" y="191389"/>
                  </a:lnTo>
                  <a:lnTo>
                    <a:pt x="721107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9339961" y="1136269"/>
              <a:ext cx="477012" cy="533019"/>
            </a:xfrm>
            <a:custGeom>
              <a:avLst/>
              <a:gdLst/>
              <a:ahLst/>
              <a:cxnLst/>
              <a:rect l="l" t="t" r="r" b="b"/>
              <a:pathLst>
                <a:path w="477012" h="533019">
                  <a:moveTo>
                    <a:pt x="0" y="477012"/>
                  </a:moveTo>
                  <a:lnTo>
                    <a:pt x="41529" y="518541"/>
                  </a:lnTo>
                  <a:lnTo>
                    <a:pt x="43053" y="520065"/>
                  </a:lnTo>
                  <a:lnTo>
                    <a:pt x="56007" y="533019"/>
                  </a:lnTo>
                  <a:lnTo>
                    <a:pt x="477012" y="112141"/>
                  </a:lnTo>
                  <a:lnTo>
                    <a:pt x="477012" y="0"/>
                  </a:lnTo>
                  <a:lnTo>
                    <a:pt x="127" y="476885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8131302" y="63500"/>
              <a:ext cx="1685798" cy="1685798"/>
            </a:xfrm>
            <a:custGeom>
              <a:avLst/>
              <a:gdLst/>
              <a:ahLst/>
              <a:cxnLst/>
              <a:rect l="l" t="t" r="r" b="b"/>
              <a:pathLst>
                <a:path w="1685798" h="1685798">
                  <a:moveTo>
                    <a:pt x="0" y="1685798"/>
                  </a:moveTo>
                  <a:lnTo>
                    <a:pt x="1685798" y="1685798"/>
                  </a:lnTo>
                  <a:lnTo>
                    <a:pt x="1685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8176527" y="0"/>
            <a:ext cx="1577073" cy="2771023"/>
            <a:chOff x="0" y="0"/>
            <a:chExt cx="1577073" cy="27710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77090" cy="2308601"/>
            </a:xfrm>
            <a:custGeom>
              <a:avLst/>
              <a:gdLst/>
              <a:ahLst/>
              <a:cxnLst/>
              <a:rect l="l" t="t" r="r" b="b"/>
              <a:pathLst>
                <a:path w="1577090" h="2308601">
                  <a:moveTo>
                    <a:pt x="731522" y="0"/>
                  </a:moveTo>
                  <a:lnTo>
                    <a:pt x="0" y="731518"/>
                  </a:lnTo>
                  <a:lnTo>
                    <a:pt x="1577090" y="2308601"/>
                  </a:lnTo>
                  <a:lnTo>
                    <a:pt x="157709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sp>
        <p:nvSpPr>
          <p:cNvPr id="21" name="Freeform 21"/>
          <p:cNvSpPr/>
          <p:nvPr/>
        </p:nvSpPr>
        <p:spPr>
          <a:xfrm>
            <a:off x="1846172" y="952540"/>
            <a:ext cx="6061255" cy="5958904"/>
          </a:xfrm>
          <a:custGeom>
            <a:avLst/>
            <a:gdLst/>
            <a:ahLst/>
            <a:cxnLst/>
            <a:rect l="l" t="t" r="r" b="b"/>
            <a:pathLst>
              <a:path w="6061255" h="5958904">
                <a:moveTo>
                  <a:pt x="0" y="0"/>
                </a:moveTo>
                <a:lnTo>
                  <a:pt x="6061256" y="0"/>
                </a:lnTo>
                <a:lnTo>
                  <a:pt x="6061256" y="5958904"/>
                </a:lnTo>
                <a:lnTo>
                  <a:pt x="0" y="595890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96" b="-3568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015434" y="6453354"/>
            <a:ext cx="47625" cy="14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</a:t>
            </a:r>
            <a:endParaRPr lang="en-US" sz="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872038" y="3086100"/>
            <a:ext cx="952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1777155" y="-180851"/>
            <a:ext cx="6399372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System</a:t>
            </a:r>
            <a:r>
              <a:rPr lang="en-IN" alt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</a:t>
            </a: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Architecture</a:t>
            </a:r>
            <a:endParaRPr lang="en-US" sz="5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194633" y="-66399"/>
            <a:ext cx="2622471" cy="4685147"/>
            <a:chOff x="0" y="0"/>
            <a:chExt cx="2622474" cy="4685144"/>
          </a:xfrm>
        </p:grpSpPr>
        <p:sp>
          <p:nvSpPr>
            <p:cNvPr id="3" name="Freeform 3"/>
            <p:cNvSpPr/>
            <p:nvPr/>
          </p:nvSpPr>
          <p:spPr>
            <a:xfrm>
              <a:off x="1083692" y="1106931"/>
              <a:ext cx="1475233" cy="2950461"/>
            </a:xfrm>
            <a:custGeom>
              <a:avLst/>
              <a:gdLst/>
              <a:ahLst/>
              <a:cxnLst/>
              <a:rect l="l" t="t" r="r" b="b"/>
              <a:pathLst>
                <a:path w="1475233" h="2950461">
                  <a:moveTo>
                    <a:pt x="1475233" y="0"/>
                  </a:moveTo>
                  <a:lnTo>
                    <a:pt x="0" y="1475231"/>
                  </a:lnTo>
                  <a:lnTo>
                    <a:pt x="1475233" y="2950461"/>
                  </a:lnTo>
                  <a:lnTo>
                    <a:pt x="1475233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6421" y="66421"/>
              <a:ext cx="2085215" cy="1810764"/>
            </a:xfrm>
            <a:custGeom>
              <a:avLst/>
              <a:gdLst/>
              <a:ahLst/>
              <a:cxnLst/>
              <a:rect l="l" t="t" r="r" b="b"/>
              <a:pathLst>
                <a:path w="2085215" h="1810764">
                  <a:moveTo>
                    <a:pt x="0" y="0"/>
                  </a:moveTo>
                  <a:lnTo>
                    <a:pt x="1810260" y="1810764"/>
                  </a:lnTo>
                  <a:lnTo>
                    <a:pt x="1996442" y="1624455"/>
                  </a:lnTo>
                  <a:lnTo>
                    <a:pt x="2085215" y="1535682"/>
                  </a:lnTo>
                  <a:lnTo>
                    <a:pt x="1793750" y="1244091"/>
                  </a:lnTo>
                  <a:lnTo>
                    <a:pt x="1286130" y="736599"/>
                  </a:lnTo>
                  <a:lnTo>
                    <a:pt x="549783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2472" y="325247"/>
              <a:ext cx="1076453" cy="1351787"/>
            </a:xfrm>
            <a:custGeom>
              <a:avLst/>
              <a:gdLst/>
              <a:ahLst/>
              <a:cxnLst/>
              <a:rect l="l" t="t" r="r" b="b"/>
              <a:pathLst>
                <a:path w="1076453" h="1351787">
                  <a:moveTo>
                    <a:pt x="0" y="275081"/>
                  </a:moveTo>
                  <a:lnTo>
                    <a:pt x="59817" y="215137"/>
                  </a:lnTo>
                  <a:lnTo>
                    <a:pt x="274955" y="0"/>
                  </a:lnTo>
                  <a:lnTo>
                    <a:pt x="1076453" y="801750"/>
                  </a:lnTo>
                  <a:lnTo>
                    <a:pt x="1076453" y="1351786"/>
                  </a:lnTo>
                  <a:lnTo>
                    <a:pt x="543815" y="819022"/>
                  </a:lnTo>
                  <a:lnTo>
                    <a:pt x="0" y="275081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263778" y="781303"/>
              <a:ext cx="1295020" cy="1405889"/>
            </a:xfrm>
            <a:custGeom>
              <a:avLst/>
              <a:gdLst/>
              <a:ahLst/>
              <a:cxnLst/>
              <a:rect l="l" t="t" r="r" b="b"/>
              <a:pathLst>
                <a:path w="1295020" h="1405889">
                  <a:moveTo>
                    <a:pt x="0" y="110490"/>
                  </a:moveTo>
                  <a:lnTo>
                    <a:pt x="39878" y="70485"/>
                  </a:lnTo>
                  <a:lnTo>
                    <a:pt x="88646" y="21717"/>
                  </a:lnTo>
                  <a:lnTo>
                    <a:pt x="110363" y="0"/>
                  </a:lnTo>
                  <a:lnTo>
                    <a:pt x="617856" y="507619"/>
                  </a:lnTo>
                  <a:lnTo>
                    <a:pt x="1295020" y="1184909"/>
                  </a:lnTo>
                  <a:lnTo>
                    <a:pt x="1295020" y="1405889"/>
                  </a:lnTo>
                  <a:lnTo>
                    <a:pt x="0" y="1104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028827" y="66421"/>
              <a:ext cx="530099" cy="530224"/>
            </a:xfrm>
            <a:custGeom>
              <a:avLst/>
              <a:gdLst/>
              <a:ahLst/>
              <a:cxnLst/>
              <a:rect l="l" t="t" r="r" b="b"/>
              <a:pathLst>
                <a:path w="530099" h="530224">
                  <a:moveTo>
                    <a:pt x="0" y="0"/>
                  </a:moveTo>
                  <a:lnTo>
                    <a:pt x="530098" y="530224"/>
                  </a:lnTo>
                  <a:lnTo>
                    <a:pt x="530098" y="309245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518541" y="66421"/>
              <a:ext cx="1567562" cy="1292986"/>
            </a:xfrm>
            <a:custGeom>
              <a:avLst/>
              <a:gdLst/>
              <a:ahLst/>
              <a:cxnLst/>
              <a:rect l="l" t="t" r="r" b="b"/>
              <a:pathLst>
                <a:path w="1567562" h="1292986">
                  <a:moveTo>
                    <a:pt x="0" y="0"/>
                  </a:moveTo>
                  <a:lnTo>
                    <a:pt x="785115" y="785367"/>
                  </a:lnTo>
                  <a:lnTo>
                    <a:pt x="1292607" y="1292986"/>
                  </a:lnTo>
                  <a:lnTo>
                    <a:pt x="1341503" y="1244091"/>
                  </a:lnTo>
                  <a:lnTo>
                    <a:pt x="1363220" y="1222374"/>
                  </a:lnTo>
                  <a:lnTo>
                    <a:pt x="1507746" y="1077848"/>
                  </a:lnTo>
                  <a:lnTo>
                    <a:pt x="1567563" y="1017904"/>
                  </a:lnTo>
                  <a:lnTo>
                    <a:pt x="1023748" y="473963"/>
                  </a:lnTo>
                  <a:lnTo>
                    <a:pt x="549784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692530" y="66421"/>
              <a:ext cx="866395" cy="866774"/>
            </a:xfrm>
            <a:custGeom>
              <a:avLst/>
              <a:gdLst/>
              <a:ahLst/>
              <a:cxnLst/>
              <a:rect l="l" t="t" r="r" b="b"/>
              <a:pathLst>
                <a:path w="866395" h="866774">
                  <a:moveTo>
                    <a:pt x="0" y="0"/>
                  </a:moveTo>
                  <a:lnTo>
                    <a:pt x="866395" y="866774"/>
                  </a:lnTo>
                  <a:lnTo>
                    <a:pt x="866395" y="455421"/>
                  </a:lnTo>
                  <a:lnTo>
                    <a:pt x="411100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6421" y="66421"/>
              <a:ext cx="2492504" cy="2120898"/>
            </a:xfrm>
            <a:custGeom>
              <a:avLst/>
              <a:gdLst/>
              <a:ahLst/>
              <a:cxnLst/>
              <a:rect l="l" t="t" r="r" b="b"/>
              <a:pathLst>
                <a:path w="2492504" h="2120898">
                  <a:moveTo>
                    <a:pt x="0" y="2120898"/>
                  </a:moveTo>
                  <a:lnTo>
                    <a:pt x="2492504" y="2120898"/>
                  </a:lnTo>
                  <a:lnTo>
                    <a:pt x="24925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-63503" y="6268555"/>
            <a:ext cx="9149077" cy="1013689"/>
          </a:xfrm>
          <a:custGeom>
            <a:avLst/>
            <a:gdLst/>
            <a:ahLst/>
            <a:cxnLst/>
            <a:rect l="l" t="t" r="r" b="b"/>
            <a:pathLst>
              <a:path w="9149077" h="1013689">
                <a:moveTo>
                  <a:pt x="0" y="0"/>
                </a:moveTo>
                <a:lnTo>
                  <a:pt x="9149077" y="0"/>
                </a:lnTo>
                <a:lnTo>
                  <a:pt x="9149077" y="1013689"/>
                </a:lnTo>
                <a:lnTo>
                  <a:pt x="0" y="10136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9706" y="1374394"/>
            <a:ext cx="8442542" cy="402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Artifact Ingestion: Uploads and validates security logs and digital artifacts.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Investigation Planning: Selects suitable analysis tasks.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Evidence Extraction: Extracts indicators from logs using deterministic tools.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Grounding Validation: Checks findings against predefined evidence rules.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Graph Correlation: Connects related entities using evidence-backed relationships.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Hypothesis Validation: Tests AI-generated explanations against available evidence.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Risk Assessment: Calculates investigation risk using predefined scoring rules.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marL="356235" lvl="1" indent="-178435" algn="l">
              <a:lnSpc>
                <a:spcPts val="2310"/>
              </a:lnSpc>
              <a:buAutoNum type="arabicPeriod"/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Report Generation: Produces a structured report containing findings and evidence references.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ctr">
              <a:lnSpc>
                <a:spcPts val="2310"/>
              </a:lnSpc>
            </a:pPr>
          </a:p>
          <a:p>
            <a:pPr algn="ctr">
              <a:lnSpc>
                <a:spcPts val="2310"/>
              </a:lnSpc>
            </a:pPr>
          </a:p>
          <a:p>
            <a:pPr algn="ctr">
              <a:lnSpc>
                <a:spcPts val="2310"/>
              </a:lnSpc>
              <a:spcBef>
                <a:spcPct val="0"/>
              </a:spcBef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409706" y="5238694"/>
            <a:ext cx="7980692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Artifact Ingestion → Investigation Planning → Evidence Extraction → Grounding Validation → Graph Correlation → Hypothesis Validation → Risk Assessment → Report Generation</a:t>
            </a:r>
            <a:endParaRPr lang="en-US" sz="165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09706" y="151283"/>
            <a:ext cx="4871416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45"/>
              </a:lnSpc>
            </a:pP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System</a:t>
            </a:r>
            <a:r>
              <a:rPr lang="en-IN" alt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</a:t>
            </a: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Working</a:t>
            </a:r>
            <a:endParaRPr lang="en-US" sz="5815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  <a:p>
            <a:pPr algn="ctr">
              <a:lnSpc>
                <a:spcPts val="2850"/>
              </a:lnSpc>
              <a:spcBef>
                <a:spcPct val="0"/>
              </a:spcBef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409706" y="4758633"/>
            <a:ext cx="1302782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Workfl</a:t>
            </a:r>
            <a:r>
              <a:rPr lang="en-IN" altLang="en-US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o</a:t>
            </a:r>
            <a:r>
              <a:rPr lang="en-US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w</a:t>
            </a:r>
            <a:r>
              <a:rPr lang="en-US" sz="2100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:</a:t>
            </a:r>
            <a:endParaRPr lang="en-US" sz="2100">
              <a:solidFill>
                <a:srgbClr val="000000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210587"/>
            <a:ext cx="9753600" cy="104613"/>
            <a:chOff x="0" y="0"/>
            <a:chExt cx="9753600" cy="104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104649"/>
            </a:xfrm>
            <a:custGeom>
              <a:avLst/>
              <a:gdLst/>
              <a:ahLst/>
              <a:cxnLst/>
              <a:rect l="l" t="t" r="r" b="b"/>
              <a:pathLst>
                <a:path w="9753600" h="104649">
                  <a:moveTo>
                    <a:pt x="0" y="0"/>
                  </a:moveTo>
                  <a:lnTo>
                    <a:pt x="0" y="104649"/>
                  </a:lnTo>
                  <a:lnTo>
                    <a:pt x="9753600" y="104649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176527" y="0"/>
            <a:ext cx="1577073" cy="2771023"/>
            <a:chOff x="0" y="0"/>
            <a:chExt cx="1577073" cy="27710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7090" cy="2308601"/>
            </a:xfrm>
            <a:custGeom>
              <a:avLst/>
              <a:gdLst/>
              <a:ahLst/>
              <a:cxnLst/>
              <a:rect l="l" t="t" r="r" b="b"/>
              <a:pathLst>
                <a:path w="1577090" h="2308601">
                  <a:moveTo>
                    <a:pt x="731522" y="0"/>
                  </a:moveTo>
                  <a:lnTo>
                    <a:pt x="0" y="731518"/>
                  </a:lnTo>
                  <a:lnTo>
                    <a:pt x="1577090" y="2308601"/>
                  </a:lnTo>
                  <a:lnTo>
                    <a:pt x="157709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39623" y="1580937"/>
            <a:ext cx="8674353" cy="4783199"/>
          </a:xfrm>
          <a:custGeom>
            <a:avLst/>
            <a:gdLst/>
            <a:ahLst/>
            <a:cxnLst/>
            <a:rect l="l" t="t" r="r" b="b"/>
            <a:pathLst>
              <a:path w="8674353" h="4783199">
                <a:moveTo>
                  <a:pt x="0" y="0"/>
                </a:moveTo>
                <a:lnTo>
                  <a:pt x="8674354" y="0"/>
                </a:lnTo>
                <a:lnTo>
                  <a:pt x="8674354" y="4783200"/>
                </a:lnTo>
                <a:lnTo>
                  <a:pt x="0" y="47832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076" r="-3626" b="-152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02408" y="77091"/>
            <a:ext cx="2687122" cy="109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Results </a:t>
            </a:r>
            <a:endParaRPr lang="en-US" sz="6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5160" y="1174003"/>
            <a:ext cx="9043280" cy="4967195"/>
          </a:xfrm>
          <a:custGeom>
            <a:avLst/>
            <a:gdLst/>
            <a:ahLst/>
            <a:cxnLst/>
            <a:rect l="l" t="t" r="r" b="b"/>
            <a:pathLst>
              <a:path w="9043280" h="4967195">
                <a:moveTo>
                  <a:pt x="0" y="0"/>
                </a:moveTo>
                <a:lnTo>
                  <a:pt x="9043280" y="0"/>
                </a:lnTo>
                <a:lnTo>
                  <a:pt x="9043280" y="4967194"/>
                </a:lnTo>
                <a:lnTo>
                  <a:pt x="0" y="49671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49" r="-221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5321" y="1039257"/>
            <a:ext cx="8982957" cy="5032825"/>
          </a:xfrm>
          <a:custGeom>
            <a:avLst/>
            <a:gdLst/>
            <a:ahLst/>
            <a:cxnLst/>
            <a:rect l="l" t="t" r="r" b="b"/>
            <a:pathLst>
              <a:path w="8982957" h="5032825">
                <a:moveTo>
                  <a:pt x="0" y="0"/>
                </a:moveTo>
                <a:lnTo>
                  <a:pt x="8982958" y="0"/>
                </a:lnTo>
                <a:lnTo>
                  <a:pt x="8982958" y="5032824"/>
                </a:lnTo>
                <a:lnTo>
                  <a:pt x="0" y="503282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652" r="-5129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7677" y="1124322"/>
            <a:ext cx="9098247" cy="5066555"/>
          </a:xfrm>
          <a:custGeom>
            <a:avLst/>
            <a:gdLst/>
            <a:ahLst/>
            <a:cxnLst/>
            <a:rect l="l" t="t" r="r" b="b"/>
            <a:pathLst>
              <a:path w="9098247" h="5066555">
                <a:moveTo>
                  <a:pt x="0" y="0"/>
                </a:moveTo>
                <a:lnTo>
                  <a:pt x="9098246" y="0"/>
                </a:lnTo>
                <a:lnTo>
                  <a:pt x="9098246" y="5066556"/>
                </a:lnTo>
                <a:lnTo>
                  <a:pt x="0" y="50665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36" r="-4089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3503" y="5290023"/>
            <a:ext cx="9883645" cy="2091728"/>
            <a:chOff x="0" y="0"/>
            <a:chExt cx="9883648" cy="2091728"/>
          </a:xfrm>
        </p:grpSpPr>
        <p:sp>
          <p:nvSpPr>
            <p:cNvPr id="3" name="Freeform 3"/>
            <p:cNvSpPr/>
            <p:nvPr/>
          </p:nvSpPr>
          <p:spPr>
            <a:xfrm>
              <a:off x="63500" y="1262254"/>
              <a:ext cx="9021953" cy="762889"/>
            </a:xfrm>
            <a:custGeom>
              <a:avLst/>
              <a:gdLst/>
              <a:ahLst/>
              <a:cxnLst/>
              <a:rect l="l" t="t" r="r" b="b"/>
              <a:pathLst>
                <a:path w="9021953" h="762889">
                  <a:moveTo>
                    <a:pt x="0" y="0"/>
                  </a:moveTo>
                  <a:lnTo>
                    <a:pt x="0" y="762889"/>
                  </a:lnTo>
                  <a:lnTo>
                    <a:pt x="9021953" y="762889"/>
                  </a:lnTo>
                  <a:lnTo>
                    <a:pt x="9021953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7964043" y="586105"/>
              <a:ext cx="1853057" cy="1439038"/>
            </a:xfrm>
            <a:custGeom>
              <a:avLst/>
              <a:gdLst/>
              <a:ahLst/>
              <a:cxnLst/>
              <a:rect l="l" t="t" r="r" b="b"/>
              <a:pathLst>
                <a:path w="1853057" h="1439038">
                  <a:moveTo>
                    <a:pt x="1318514" y="0"/>
                  </a:moveTo>
                  <a:lnTo>
                    <a:pt x="0" y="1439038"/>
                  </a:lnTo>
                  <a:lnTo>
                    <a:pt x="1853057" y="1439038"/>
                  </a:lnTo>
                  <a:lnTo>
                    <a:pt x="1853057" y="583312"/>
                  </a:lnTo>
                  <a:lnTo>
                    <a:pt x="1318514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8854186" y="589407"/>
              <a:ext cx="962914" cy="1435863"/>
            </a:xfrm>
            <a:custGeom>
              <a:avLst/>
              <a:gdLst/>
              <a:ahLst/>
              <a:cxnLst/>
              <a:rect l="l" t="t" r="r" b="b"/>
              <a:pathLst>
                <a:path w="962914" h="1435863">
                  <a:moveTo>
                    <a:pt x="431165" y="0"/>
                  </a:moveTo>
                  <a:lnTo>
                    <a:pt x="0" y="470790"/>
                  </a:lnTo>
                  <a:lnTo>
                    <a:pt x="864743" y="1435863"/>
                  </a:lnTo>
                  <a:lnTo>
                    <a:pt x="962914" y="1435863"/>
                  </a:lnTo>
                  <a:lnTo>
                    <a:pt x="962914" y="580137"/>
                  </a:lnTo>
                  <a:lnTo>
                    <a:pt x="431165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644257" y="64516"/>
              <a:ext cx="2172843" cy="1960627"/>
            </a:xfrm>
            <a:custGeom>
              <a:avLst/>
              <a:gdLst/>
              <a:ahLst/>
              <a:cxnLst/>
              <a:rect l="l" t="t" r="r" b="b"/>
              <a:pathLst>
                <a:path w="2172843" h="1960627">
                  <a:moveTo>
                    <a:pt x="1796415" y="0"/>
                  </a:moveTo>
                  <a:lnTo>
                    <a:pt x="0" y="1960627"/>
                  </a:lnTo>
                  <a:lnTo>
                    <a:pt x="320420" y="1960627"/>
                  </a:lnTo>
                  <a:lnTo>
                    <a:pt x="1797685" y="354076"/>
                  </a:lnTo>
                  <a:lnTo>
                    <a:pt x="2172843" y="763397"/>
                  </a:lnTo>
                  <a:lnTo>
                    <a:pt x="2172843" y="407924"/>
                  </a:lnTo>
                  <a:lnTo>
                    <a:pt x="179908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532116" y="63500"/>
              <a:ext cx="2284984" cy="1961643"/>
            </a:xfrm>
            <a:custGeom>
              <a:avLst/>
              <a:gdLst/>
              <a:ahLst/>
              <a:cxnLst/>
              <a:rect l="l" t="t" r="r" b="b"/>
              <a:pathLst>
                <a:path w="2284984" h="1961643">
                  <a:moveTo>
                    <a:pt x="0" y="0"/>
                  </a:moveTo>
                  <a:lnTo>
                    <a:pt x="0" y="1961643"/>
                  </a:lnTo>
                  <a:lnTo>
                    <a:pt x="2284984" y="1961643"/>
                  </a:lnTo>
                  <a:lnTo>
                    <a:pt x="228498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-63503" y="-63503"/>
            <a:ext cx="1673285" cy="1344520"/>
            <a:chOff x="0" y="0"/>
            <a:chExt cx="1673288" cy="1344524"/>
          </a:xfrm>
        </p:grpSpPr>
        <p:sp>
          <p:nvSpPr>
            <p:cNvPr id="9" name="Freeform 9"/>
            <p:cNvSpPr/>
            <p:nvPr/>
          </p:nvSpPr>
          <p:spPr>
            <a:xfrm>
              <a:off x="67310" y="63500"/>
              <a:ext cx="1351406" cy="911102"/>
            </a:xfrm>
            <a:custGeom>
              <a:avLst/>
              <a:gdLst/>
              <a:ahLst/>
              <a:cxnLst/>
              <a:rect l="l" t="t" r="r" b="b"/>
              <a:pathLst>
                <a:path w="1351406" h="911102">
                  <a:moveTo>
                    <a:pt x="0" y="347093"/>
                  </a:moveTo>
                  <a:lnTo>
                    <a:pt x="0" y="0"/>
                  </a:lnTo>
                  <a:lnTo>
                    <a:pt x="1351406" y="0"/>
                  </a:lnTo>
                  <a:lnTo>
                    <a:pt x="516763" y="911102"/>
                  </a:lnTo>
                  <a:lnTo>
                    <a:pt x="0" y="347093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7310" y="63500"/>
              <a:ext cx="767715" cy="909196"/>
            </a:xfrm>
            <a:custGeom>
              <a:avLst/>
              <a:gdLst/>
              <a:ahLst/>
              <a:cxnLst/>
              <a:rect l="l" t="t" r="r" b="b"/>
              <a:pathLst>
                <a:path w="767715" h="909196">
                  <a:moveTo>
                    <a:pt x="0" y="347093"/>
                  </a:moveTo>
                  <a:lnTo>
                    <a:pt x="0" y="0"/>
                  </a:lnTo>
                  <a:lnTo>
                    <a:pt x="200279" y="0"/>
                  </a:lnTo>
                  <a:lnTo>
                    <a:pt x="767715" y="633352"/>
                  </a:lnTo>
                  <a:lnTo>
                    <a:pt x="515112" y="909197"/>
                  </a:lnTo>
                  <a:lnTo>
                    <a:pt x="0" y="34709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7310" y="63500"/>
              <a:ext cx="1538858" cy="1217554"/>
            </a:xfrm>
            <a:custGeom>
              <a:avLst/>
              <a:gdLst/>
              <a:ahLst/>
              <a:cxnLst/>
              <a:rect l="l" t="t" r="r" b="b"/>
              <a:pathLst>
                <a:path w="1538858" h="1217554">
                  <a:moveTo>
                    <a:pt x="0" y="755526"/>
                  </a:moveTo>
                  <a:lnTo>
                    <a:pt x="0" y="547245"/>
                  </a:lnTo>
                  <a:lnTo>
                    <a:pt x="423291" y="1009273"/>
                  </a:lnTo>
                  <a:lnTo>
                    <a:pt x="1351279" y="0"/>
                  </a:lnTo>
                  <a:lnTo>
                    <a:pt x="1538858" y="0"/>
                  </a:lnTo>
                  <a:lnTo>
                    <a:pt x="423291" y="1217554"/>
                  </a:lnTo>
                  <a:lnTo>
                    <a:pt x="0" y="75552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63500"/>
              <a:ext cx="1546351" cy="1217300"/>
            </a:xfrm>
            <a:custGeom>
              <a:avLst/>
              <a:gdLst/>
              <a:ahLst/>
              <a:cxnLst/>
              <a:rect l="l" t="t" r="r" b="b"/>
              <a:pathLst>
                <a:path w="1546351" h="1217300">
                  <a:moveTo>
                    <a:pt x="0" y="1217300"/>
                  </a:moveTo>
                  <a:lnTo>
                    <a:pt x="1546351" y="1217300"/>
                  </a:lnTo>
                  <a:lnTo>
                    <a:pt x="15463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8557955" y="0"/>
            <a:ext cx="1195645" cy="3742944"/>
            <a:chOff x="0" y="0"/>
            <a:chExt cx="1195641" cy="3742944"/>
          </a:xfrm>
        </p:grpSpPr>
        <p:sp>
          <p:nvSpPr>
            <p:cNvPr id="14" name="Freeform 14"/>
            <p:cNvSpPr/>
            <p:nvPr/>
          </p:nvSpPr>
          <p:spPr>
            <a:xfrm>
              <a:off x="0" y="507746"/>
              <a:ext cx="1195578" cy="2391284"/>
            </a:xfrm>
            <a:custGeom>
              <a:avLst/>
              <a:gdLst/>
              <a:ahLst/>
              <a:cxnLst/>
              <a:rect l="l" t="t" r="r" b="b"/>
              <a:pathLst>
                <a:path w="1195578" h="2391284">
                  <a:moveTo>
                    <a:pt x="1195578" y="0"/>
                  </a:moveTo>
                  <a:lnTo>
                    <a:pt x="0" y="1195706"/>
                  </a:lnTo>
                  <a:lnTo>
                    <a:pt x="1195578" y="2391284"/>
                  </a:lnTo>
                  <a:lnTo>
                    <a:pt x="1195578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223217" y="1350219"/>
          <a:ext cx="8710304" cy="5133975"/>
        </p:xfrm>
        <a:graphic>
          <a:graphicData uri="http://schemas.openxmlformats.org/drawingml/2006/table">
            <a:tbl>
              <a:tblPr/>
              <a:tblGrid>
                <a:gridCol w="2845542"/>
                <a:gridCol w="2845542"/>
                <a:gridCol w="3019220"/>
              </a:tblGrid>
              <a:tr h="1101506">
                <a:tc>
                  <a:txBody>
                    <a:bodyPr rtlCol="0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 panose="00000800000000000000"/>
                          <a:ea typeface="Poppins Bold" panose="00000800000000000000"/>
                          <a:cs typeface="Poppins Bold" panose="00000800000000000000"/>
                          <a:sym typeface="Poppins Bold" panose="00000800000000000000"/>
                        </a:rPr>
                        <a:t>Category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 panose="00000800000000000000"/>
                          <a:ea typeface="Poppins Bold" panose="00000800000000000000"/>
                          <a:cs typeface="Poppins Bold" panose="00000800000000000000"/>
                          <a:sym typeface="Poppins Bold" panose="00000800000000000000"/>
                        </a:rPr>
                        <a:t>Meaning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 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 panose="00000800000000000000"/>
                          <a:ea typeface="Poppins Bold" panose="00000800000000000000"/>
                          <a:cs typeface="Poppins Bold" panose="00000800000000000000"/>
                          <a:sym typeface="Poppins Bold" panose="00000800000000000000"/>
                        </a:rPr>
                        <a:t>Validation Requirement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 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6566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 FACT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Directly observed information 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Must reference verified deterministic evidence.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6566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INFERENCE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A conclusion derived from evidence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Must include evidence citations and explicit reasoning.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976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HYPOTHESIS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 A possible explanation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Must include a valid condition under which it could be disproved.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361">
                <a:tc>
                  <a:txBody>
                    <a:bodyPr rtlCol="0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UNKNOWN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Information that cannot currently be established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Severity is restricted to INFO.</a:t>
                      </a:r>
                      <a:endParaRPr lang="en-US" sz="1100"/>
                    </a:p>
                  </a:txBody>
                  <a:tcPr marL="152400" marR="152400" marT="152400" marB="152400" anchor="t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1760821" y="95250"/>
            <a:ext cx="6646095" cy="114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5"/>
              </a:lnSpc>
            </a:pPr>
            <a:r>
              <a:rPr lang="en-US" sz="45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Ev</a:t>
            </a:r>
            <a:r>
              <a:rPr lang="en-US" sz="45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idence Validation and Finding Classification</a:t>
            </a:r>
            <a:endParaRPr lang="en-US" sz="45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3503" y="-66551"/>
            <a:ext cx="2023624" cy="2544728"/>
            <a:chOff x="0" y="0"/>
            <a:chExt cx="2023618" cy="2544724"/>
          </a:xfrm>
        </p:grpSpPr>
        <p:sp>
          <p:nvSpPr>
            <p:cNvPr id="3" name="Freeform 3"/>
            <p:cNvSpPr/>
            <p:nvPr/>
          </p:nvSpPr>
          <p:spPr>
            <a:xfrm>
              <a:off x="66167" y="66548"/>
              <a:ext cx="1265300" cy="1268475"/>
            </a:xfrm>
            <a:custGeom>
              <a:avLst/>
              <a:gdLst/>
              <a:ahLst/>
              <a:cxnLst/>
              <a:rect l="l" t="t" r="r" b="b"/>
              <a:pathLst>
                <a:path w="1265300" h="1268475">
                  <a:moveTo>
                    <a:pt x="684910" y="0"/>
                  </a:moveTo>
                  <a:lnTo>
                    <a:pt x="0" y="686562"/>
                  </a:lnTo>
                  <a:lnTo>
                    <a:pt x="0" y="1268475"/>
                  </a:lnTo>
                  <a:lnTo>
                    <a:pt x="1265300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6167" y="675640"/>
              <a:ext cx="1433828" cy="1805431"/>
            </a:xfrm>
            <a:custGeom>
              <a:avLst/>
              <a:gdLst/>
              <a:ahLst/>
              <a:cxnLst/>
              <a:rect l="l" t="t" r="r" b="b"/>
              <a:pathLst>
                <a:path w="1433828" h="1805431">
                  <a:moveTo>
                    <a:pt x="1433828" y="368045"/>
                  </a:moveTo>
                  <a:lnTo>
                    <a:pt x="1172209" y="105790"/>
                  </a:lnTo>
                  <a:lnTo>
                    <a:pt x="1121663" y="55117"/>
                  </a:lnTo>
                  <a:lnTo>
                    <a:pt x="1109344" y="42671"/>
                  </a:lnTo>
                  <a:lnTo>
                    <a:pt x="1066672" y="0"/>
                  </a:lnTo>
                  <a:lnTo>
                    <a:pt x="0" y="1069339"/>
                  </a:lnTo>
                  <a:lnTo>
                    <a:pt x="0" y="1805430"/>
                  </a:lnTo>
                  <a:lnTo>
                    <a:pt x="1433828" y="368045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53924" y="66548"/>
              <a:ext cx="1797556" cy="1294002"/>
            </a:xfrm>
            <a:custGeom>
              <a:avLst/>
              <a:gdLst/>
              <a:ahLst/>
              <a:cxnLst/>
              <a:rect l="l" t="t" r="r" b="b"/>
              <a:pathLst>
                <a:path w="1797556" h="1294002">
                  <a:moveTo>
                    <a:pt x="783970" y="0"/>
                  </a:moveTo>
                  <a:lnTo>
                    <a:pt x="0" y="786002"/>
                  </a:lnTo>
                  <a:lnTo>
                    <a:pt x="86868" y="872997"/>
                  </a:lnTo>
                  <a:lnTo>
                    <a:pt x="99314" y="885443"/>
                  </a:lnTo>
                  <a:lnTo>
                    <a:pt x="196850" y="983233"/>
                  </a:lnTo>
                  <a:lnTo>
                    <a:pt x="401192" y="1188211"/>
                  </a:lnTo>
                  <a:lnTo>
                    <a:pt x="443737" y="1230883"/>
                  </a:lnTo>
                  <a:lnTo>
                    <a:pt x="456183" y="1243329"/>
                  </a:lnTo>
                  <a:lnTo>
                    <a:pt x="506729" y="1294002"/>
                  </a:lnTo>
                  <a:lnTo>
                    <a:pt x="1084325" y="714883"/>
                  </a:lnTo>
                  <a:lnTo>
                    <a:pt x="1797556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167" y="571500"/>
              <a:ext cx="554100" cy="567944"/>
            </a:xfrm>
            <a:custGeom>
              <a:avLst/>
              <a:gdLst/>
              <a:ahLst/>
              <a:cxnLst/>
              <a:rect l="l" t="t" r="r" b="b"/>
              <a:pathLst>
                <a:path w="554100" h="567944">
                  <a:moveTo>
                    <a:pt x="554100" y="12446"/>
                  </a:moveTo>
                  <a:lnTo>
                    <a:pt x="541781" y="0"/>
                  </a:lnTo>
                  <a:lnTo>
                    <a:pt x="0" y="543051"/>
                  </a:lnTo>
                  <a:lnTo>
                    <a:pt x="0" y="567943"/>
                  </a:lnTo>
                  <a:lnTo>
                    <a:pt x="187071" y="380491"/>
                  </a:lnTo>
                  <a:lnTo>
                    <a:pt x="554100" y="124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61795" y="66421"/>
              <a:ext cx="789685" cy="589280"/>
            </a:xfrm>
            <a:custGeom>
              <a:avLst/>
              <a:gdLst/>
              <a:ahLst/>
              <a:cxnLst/>
              <a:rect l="l" t="t" r="r" b="b"/>
              <a:pathLst>
                <a:path w="789685" h="589280">
                  <a:moveTo>
                    <a:pt x="385825" y="127"/>
                  </a:moveTo>
                  <a:lnTo>
                    <a:pt x="0" y="386969"/>
                  </a:lnTo>
                  <a:lnTo>
                    <a:pt x="138938" y="526161"/>
                  </a:lnTo>
                  <a:lnTo>
                    <a:pt x="151384" y="538607"/>
                  </a:lnTo>
                  <a:lnTo>
                    <a:pt x="201930" y="589280"/>
                  </a:lnTo>
                  <a:lnTo>
                    <a:pt x="789685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409828" y="66548"/>
              <a:ext cx="1440432" cy="1431670"/>
            </a:xfrm>
            <a:custGeom>
              <a:avLst/>
              <a:gdLst/>
              <a:ahLst/>
              <a:cxnLst/>
              <a:rect l="l" t="t" r="r" b="b"/>
              <a:pathLst>
                <a:path w="1440432" h="1431670">
                  <a:moveTo>
                    <a:pt x="1415668" y="0"/>
                  </a:moveTo>
                  <a:lnTo>
                    <a:pt x="890905" y="526034"/>
                  </a:lnTo>
                  <a:lnTo>
                    <a:pt x="765683" y="651637"/>
                  </a:lnTo>
                  <a:lnTo>
                    <a:pt x="187960" y="1230756"/>
                  </a:lnTo>
                  <a:lnTo>
                    <a:pt x="0" y="1419224"/>
                  </a:lnTo>
                  <a:lnTo>
                    <a:pt x="12446" y="1431670"/>
                  </a:lnTo>
                  <a:lnTo>
                    <a:pt x="144043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500" y="66548"/>
              <a:ext cx="1896616" cy="2414649"/>
            </a:xfrm>
            <a:custGeom>
              <a:avLst/>
              <a:gdLst/>
              <a:ahLst/>
              <a:cxnLst/>
              <a:rect l="l" t="t" r="r" b="b"/>
              <a:pathLst>
                <a:path w="1896616" h="2414649">
                  <a:moveTo>
                    <a:pt x="0" y="0"/>
                  </a:moveTo>
                  <a:lnTo>
                    <a:pt x="0" y="2414649"/>
                  </a:lnTo>
                  <a:lnTo>
                    <a:pt x="1896616" y="2414649"/>
                  </a:lnTo>
                  <a:lnTo>
                    <a:pt x="18966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8176527" y="0"/>
            <a:ext cx="1577073" cy="2771023"/>
            <a:chOff x="0" y="0"/>
            <a:chExt cx="1577073" cy="27710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77090" cy="2308601"/>
            </a:xfrm>
            <a:custGeom>
              <a:avLst/>
              <a:gdLst/>
              <a:ahLst/>
              <a:cxnLst/>
              <a:rect l="l" t="t" r="r" b="b"/>
              <a:pathLst>
                <a:path w="1577090" h="2308601">
                  <a:moveTo>
                    <a:pt x="731522" y="0"/>
                  </a:moveTo>
                  <a:lnTo>
                    <a:pt x="0" y="731518"/>
                  </a:lnTo>
                  <a:lnTo>
                    <a:pt x="1577090" y="2308601"/>
                  </a:lnTo>
                  <a:lnTo>
                    <a:pt x="157709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-63503" y="5565943"/>
            <a:ext cx="9880597" cy="1812922"/>
            <a:chOff x="0" y="0"/>
            <a:chExt cx="9880600" cy="1812925"/>
          </a:xfrm>
        </p:grpSpPr>
        <p:sp>
          <p:nvSpPr>
            <p:cNvPr id="13" name="Freeform 13"/>
            <p:cNvSpPr/>
            <p:nvPr/>
          </p:nvSpPr>
          <p:spPr>
            <a:xfrm>
              <a:off x="63500" y="1644650"/>
              <a:ext cx="9753600" cy="104648"/>
            </a:xfrm>
            <a:custGeom>
              <a:avLst/>
              <a:gdLst/>
              <a:ahLst/>
              <a:cxnLst/>
              <a:rect l="l" t="t" r="r" b="b"/>
              <a:pathLst>
                <a:path w="9753600" h="104648">
                  <a:moveTo>
                    <a:pt x="0" y="0"/>
                  </a:moveTo>
                  <a:lnTo>
                    <a:pt x="0" y="104648"/>
                  </a:lnTo>
                  <a:lnTo>
                    <a:pt x="9753600" y="104648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9112758" y="161036"/>
              <a:ext cx="704216" cy="1006602"/>
            </a:xfrm>
            <a:custGeom>
              <a:avLst/>
              <a:gdLst/>
              <a:ahLst/>
              <a:cxnLst/>
              <a:rect l="l" t="t" r="r" b="b"/>
              <a:pathLst>
                <a:path w="704216" h="1006602">
                  <a:moveTo>
                    <a:pt x="0" y="704215"/>
                  </a:moveTo>
                  <a:lnTo>
                    <a:pt x="70357" y="774700"/>
                  </a:lnTo>
                  <a:lnTo>
                    <a:pt x="253111" y="957453"/>
                  </a:lnTo>
                  <a:lnTo>
                    <a:pt x="302260" y="1006602"/>
                  </a:lnTo>
                  <a:lnTo>
                    <a:pt x="485648" y="823214"/>
                  </a:lnTo>
                  <a:lnTo>
                    <a:pt x="704216" y="604647"/>
                  </a:lnTo>
                  <a:lnTo>
                    <a:pt x="704216" y="0"/>
                  </a:lnTo>
                  <a:lnTo>
                    <a:pt x="0" y="704215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8131302" y="63500"/>
              <a:ext cx="1685671" cy="1685798"/>
            </a:xfrm>
            <a:custGeom>
              <a:avLst/>
              <a:gdLst/>
              <a:ahLst/>
              <a:cxnLst/>
              <a:rect l="l" t="t" r="r" b="b"/>
              <a:pathLst>
                <a:path w="1685671" h="1685798">
                  <a:moveTo>
                    <a:pt x="1685671" y="0"/>
                  </a:moveTo>
                  <a:lnTo>
                    <a:pt x="0" y="1685671"/>
                  </a:lnTo>
                  <a:lnTo>
                    <a:pt x="0" y="1685798"/>
                  </a:lnTo>
                  <a:lnTo>
                    <a:pt x="238252" y="1685798"/>
                  </a:lnTo>
                  <a:lnTo>
                    <a:pt x="1051814" y="872236"/>
                  </a:lnTo>
                  <a:lnTo>
                    <a:pt x="1685671" y="238379"/>
                  </a:lnTo>
                  <a:lnTo>
                    <a:pt x="1685671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9290304" y="1222502"/>
              <a:ext cx="526796" cy="526669"/>
            </a:xfrm>
            <a:custGeom>
              <a:avLst/>
              <a:gdLst/>
              <a:ahLst/>
              <a:cxnLst/>
              <a:rect l="l" t="t" r="r" b="b"/>
              <a:pathLst>
                <a:path w="526796" h="526669">
                  <a:moveTo>
                    <a:pt x="526669" y="0"/>
                  </a:moveTo>
                  <a:lnTo>
                    <a:pt x="92837" y="433832"/>
                  </a:lnTo>
                  <a:lnTo>
                    <a:pt x="0" y="526669"/>
                  </a:lnTo>
                  <a:lnTo>
                    <a:pt x="238379" y="526669"/>
                  </a:lnTo>
                  <a:lnTo>
                    <a:pt x="526796" y="238252"/>
                  </a:lnTo>
                  <a:lnTo>
                    <a:pt x="526796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8735187" y="935101"/>
              <a:ext cx="909955" cy="814197"/>
            </a:xfrm>
            <a:custGeom>
              <a:avLst/>
              <a:gdLst/>
              <a:ahLst/>
              <a:cxnLst/>
              <a:rect l="l" t="t" r="r" b="b"/>
              <a:pathLst>
                <a:path w="909955" h="814197">
                  <a:moveTo>
                    <a:pt x="814070" y="0"/>
                  </a:moveTo>
                  <a:lnTo>
                    <a:pt x="630809" y="183388"/>
                  </a:lnTo>
                  <a:lnTo>
                    <a:pt x="0" y="814197"/>
                  </a:lnTo>
                  <a:lnTo>
                    <a:pt x="191389" y="814197"/>
                  </a:lnTo>
                  <a:lnTo>
                    <a:pt x="909955" y="95631"/>
                  </a:lnTo>
                  <a:lnTo>
                    <a:pt x="863346" y="49149"/>
                  </a:lnTo>
                  <a:lnTo>
                    <a:pt x="814197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9095740" y="1028065"/>
              <a:ext cx="721233" cy="721233"/>
            </a:xfrm>
            <a:custGeom>
              <a:avLst/>
              <a:gdLst/>
              <a:ahLst/>
              <a:cxnLst/>
              <a:rect l="l" t="t" r="r" b="b"/>
              <a:pathLst>
                <a:path w="721233" h="721233">
                  <a:moveTo>
                    <a:pt x="721233" y="0"/>
                  </a:moveTo>
                  <a:lnTo>
                    <a:pt x="0" y="721233"/>
                  </a:lnTo>
                  <a:lnTo>
                    <a:pt x="191262" y="721233"/>
                  </a:lnTo>
                  <a:lnTo>
                    <a:pt x="721107" y="191389"/>
                  </a:lnTo>
                  <a:lnTo>
                    <a:pt x="721107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9339961" y="1136269"/>
              <a:ext cx="477012" cy="533019"/>
            </a:xfrm>
            <a:custGeom>
              <a:avLst/>
              <a:gdLst/>
              <a:ahLst/>
              <a:cxnLst/>
              <a:rect l="l" t="t" r="r" b="b"/>
              <a:pathLst>
                <a:path w="477012" h="533019">
                  <a:moveTo>
                    <a:pt x="0" y="477012"/>
                  </a:moveTo>
                  <a:lnTo>
                    <a:pt x="41529" y="518541"/>
                  </a:lnTo>
                  <a:lnTo>
                    <a:pt x="43053" y="520065"/>
                  </a:lnTo>
                  <a:lnTo>
                    <a:pt x="56007" y="533019"/>
                  </a:lnTo>
                  <a:lnTo>
                    <a:pt x="477012" y="112141"/>
                  </a:lnTo>
                  <a:lnTo>
                    <a:pt x="477012" y="0"/>
                  </a:lnTo>
                  <a:lnTo>
                    <a:pt x="127" y="476885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8131302" y="63500"/>
              <a:ext cx="1685798" cy="1685798"/>
            </a:xfrm>
            <a:custGeom>
              <a:avLst/>
              <a:gdLst/>
              <a:ahLst/>
              <a:cxnLst/>
              <a:rect l="l" t="t" r="r" b="b"/>
              <a:pathLst>
                <a:path w="1685798" h="1685798">
                  <a:moveTo>
                    <a:pt x="0" y="1685798"/>
                  </a:moveTo>
                  <a:lnTo>
                    <a:pt x="1685798" y="1685798"/>
                  </a:lnTo>
                  <a:lnTo>
                    <a:pt x="1685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2433028" y="480841"/>
            <a:ext cx="4344233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Future</a:t>
            </a:r>
            <a:r>
              <a:rPr lang="en-IN" alt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</a:t>
            </a: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Scope</a:t>
            </a:r>
            <a:endParaRPr lang="en-US" sz="5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07476" y="2624823"/>
            <a:ext cx="93107" cy="554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4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 </a:t>
            </a:r>
            <a:endParaRPr lang="en-US" sz="3140">
              <a:solidFill>
                <a:srgbClr val="262262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2070" y="2624823"/>
            <a:ext cx="3891320" cy="56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28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Short-Term</a:t>
            </a:r>
            <a:r>
              <a:rPr lang="en-IN" altLang="en-US" sz="28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 </a:t>
            </a:r>
            <a:r>
              <a:rPr lang="en-US" sz="28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Enhancements</a:t>
            </a:r>
            <a:r>
              <a:rPr lang="en-US" sz="28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:</a:t>
            </a:r>
            <a:endParaRPr lang="en-US" sz="2800">
              <a:solidFill>
                <a:srgbClr val="262262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99722" y="3321739"/>
            <a:ext cx="3753631" cy="2778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6235" lvl="1" indent="-178435" algn="l">
              <a:lnSpc>
                <a:spcPts val="197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Support additional log formats and forensic artifacts.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1970"/>
              </a:lnSpc>
            </a:pPr>
          </a:p>
          <a:p>
            <a:pPr marL="356235" lvl="1" indent="-178435" algn="l">
              <a:lnSpc>
                <a:spcPts val="197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Improve detection rules and hypothesis validation.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1970"/>
              </a:lnSpc>
            </a:pPr>
          </a:p>
          <a:p>
            <a:pPr marL="356235" lvl="1" indent="-178435" algn="l">
              <a:lnSpc>
                <a:spcPts val="197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Expand automated testing with adversarial inputs.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1970"/>
              </a:lnSpc>
            </a:pPr>
          </a:p>
          <a:p>
            <a:pPr marL="356235" lvl="1" indent="-178435" algn="l">
              <a:lnSpc>
                <a:spcPts val="1970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Enhance evidence visualization and investigation reports.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351707" y="2615298"/>
            <a:ext cx="3700939" cy="5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Long-Term Enhancements</a:t>
            </a:r>
            <a:r>
              <a:rPr lang="en-US" sz="3000">
                <a:solidFill>
                  <a:srgbClr val="262262"/>
                </a:solidFill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rPr>
              <a:t>: </a:t>
            </a:r>
            <a:endParaRPr lang="en-US" sz="3000">
              <a:solidFill>
                <a:srgbClr val="262262"/>
              </a:solidFill>
              <a:latin typeface="Oswald" panose="00000500000000000000"/>
              <a:ea typeface="Oswald" panose="00000500000000000000"/>
              <a:cs typeface="Oswald" panose="00000500000000000000"/>
              <a:sym typeface="Oswald" panose="000005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351707" y="3321739"/>
            <a:ext cx="4180996" cy="3435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Integrate additional threat-intelligence services.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305"/>
              </a:lnSpc>
            </a:p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Support large-scale investigations using PostgreSQL.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305"/>
              </a:lnSpc>
            </a:p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Strengthen evidence integrity and chain-of-custody mechanisms.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305"/>
              </a:lnSpc>
            </a:pPr>
          </a:p>
          <a:p>
            <a:pPr marL="356235" lvl="1" indent="-178435" algn="l">
              <a:lnSpc>
                <a:spcPts val="230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Develop advanced evaluation datasets and performance benchmarks.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91289" y="4769968"/>
            <a:ext cx="725805" cy="1912068"/>
          </a:xfrm>
          <a:custGeom>
            <a:avLst/>
            <a:gdLst/>
            <a:ahLst/>
            <a:cxnLst/>
            <a:rect l="l" t="t" r="r" b="b"/>
            <a:pathLst>
              <a:path w="725805" h="1912068">
                <a:moveTo>
                  <a:pt x="0" y="0"/>
                </a:moveTo>
                <a:lnTo>
                  <a:pt x="725805" y="0"/>
                </a:lnTo>
                <a:lnTo>
                  <a:pt x="725805" y="1912067"/>
                </a:lnTo>
                <a:lnTo>
                  <a:pt x="0" y="191206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194633" y="-66399"/>
            <a:ext cx="2622471" cy="4685147"/>
            <a:chOff x="0" y="0"/>
            <a:chExt cx="2622474" cy="4685144"/>
          </a:xfrm>
        </p:grpSpPr>
        <p:sp>
          <p:nvSpPr>
            <p:cNvPr id="4" name="Freeform 4"/>
            <p:cNvSpPr/>
            <p:nvPr/>
          </p:nvSpPr>
          <p:spPr>
            <a:xfrm>
              <a:off x="1083692" y="1106931"/>
              <a:ext cx="1475233" cy="2950461"/>
            </a:xfrm>
            <a:custGeom>
              <a:avLst/>
              <a:gdLst/>
              <a:ahLst/>
              <a:cxnLst/>
              <a:rect l="l" t="t" r="r" b="b"/>
              <a:pathLst>
                <a:path w="1475233" h="2950461">
                  <a:moveTo>
                    <a:pt x="1475233" y="0"/>
                  </a:moveTo>
                  <a:lnTo>
                    <a:pt x="0" y="1475231"/>
                  </a:lnTo>
                  <a:lnTo>
                    <a:pt x="1475233" y="2950461"/>
                  </a:lnTo>
                  <a:lnTo>
                    <a:pt x="1475233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6421" y="66421"/>
              <a:ext cx="2085215" cy="1810764"/>
            </a:xfrm>
            <a:custGeom>
              <a:avLst/>
              <a:gdLst/>
              <a:ahLst/>
              <a:cxnLst/>
              <a:rect l="l" t="t" r="r" b="b"/>
              <a:pathLst>
                <a:path w="2085215" h="1810764">
                  <a:moveTo>
                    <a:pt x="0" y="0"/>
                  </a:moveTo>
                  <a:lnTo>
                    <a:pt x="1810260" y="1810764"/>
                  </a:lnTo>
                  <a:lnTo>
                    <a:pt x="1996442" y="1624455"/>
                  </a:lnTo>
                  <a:lnTo>
                    <a:pt x="2085215" y="1535682"/>
                  </a:lnTo>
                  <a:lnTo>
                    <a:pt x="1793750" y="1244091"/>
                  </a:lnTo>
                  <a:lnTo>
                    <a:pt x="1286130" y="736599"/>
                  </a:lnTo>
                  <a:lnTo>
                    <a:pt x="549783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482472" y="325247"/>
              <a:ext cx="1076453" cy="1351787"/>
            </a:xfrm>
            <a:custGeom>
              <a:avLst/>
              <a:gdLst/>
              <a:ahLst/>
              <a:cxnLst/>
              <a:rect l="l" t="t" r="r" b="b"/>
              <a:pathLst>
                <a:path w="1076453" h="1351787">
                  <a:moveTo>
                    <a:pt x="0" y="275081"/>
                  </a:moveTo>
                  <a:lnTo>
                    <a:pt x="59817" y="215137"/>
                  </a:lnTo>
                  <a:lnTo>
                    <a:pt x="274955" y="0"/>
                  </a:lnTo>
                  <a:lnTo>
                    <a:pt x="1076453" y="801750"/>
                  </a:lnTo>
                  <a:lnTo>
                    <a:pt x="1076453" y="1351786"/>
                  </a:lnTo>
                  <a:lnTo>
                    <a:pt x="543815" y="819022"/>
                  </a:lnTo>
                  <a:lnTo>
                    <a:pt x="0" y="275081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263778" y="781303"/>
              <a:ext cx="1295020" cy="1405889"/>
            </a:xfrm>
            <a:custGeom>
              <a:avLst/>
              <a:gdLst/>
              <a:ahLst/>
              <a:cxnLst/>
              <a:rect l="l" t="t" r="r" b="b"/>
              <a:pathLst>
                <a:path w="1295020" h="1405889">
                  <a:moveTo>
                    <a:pt x="0" y="110490"/>
                  </a:moveTo>
                  <a:lnTo>
                    <a:pt x="39878" y="70485"/>
                  </a:lnTo>
                  <a:lnTo>
                    <a:pt x="88646" y="21717"/>
                  </a:lnTo>
                  <a:lnTo>
                    <a:pt x="110363" y="0"/>
                  </a:lnTo>
                  <a:lnTo>
                    <a:pt x="617856" y="507619"/>
                  </a:lnTo>
                  <a:lnTo>
                    <a:pt x="1295020" y="1184909"/>
                  </a:lnTo>
                  <a:lnTo>
                    <a:pt x="1295020" y="1405889"/>
                  </a:lnTo>
                  <a:lnTo>
                    <a:pt x="0" y="1104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028827" y="66421"/>
              <a:ext cx="530099" cy="530224"/>
            </a:xfrm>
            <a:custGeom>
              <a:avLst/>
              <a:gdLst/>
              <a:ahLst/>
              <a:cxnLst/>
              <a:rect l="l" t="t" r="r" b="b"/>
              <a:pathLst>
                <a:path w="530099" h="530224">
                  <a:moveTo>
                    <a:pt x="0" y="0"/>
                  </a:moveTo>
                  <a:lnTo>
                    <a:pt x="530098" y="530224"/>
                  </a:lnTo>
                  <a:lnTo>
                    <a:pt x="530098" y="309245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18541" y="66421"/>
              <a:ext cx="1567562" cy="1292986"/>
            </a:xfrm>
            <a:custGeom>
              <a:avLst/>
              <a:gdLst/>
              <a:ahLst/>
              <a:cxnLst/>
              <a:rect l="l" t="t" r="r" b="b"/>
              <a:pathLst>
                <a:path w="1567562" h="1292986">
                  <a:moveTo>
                    <a:pt x="0" y="0"/>
                  </a:moveTo>
                  <a:lnTo>
                    <a:pt x="785115" y="785367"/>
                  </a:lnTo>
                  <a:lnTo>
                    <a:pt x="1292607" y="1292986"/>
                  </a:lnTo>
                  <a:lnTo>
                    <a:pt x="1341503" y="1244091"/>
                  </a:lnTo>
                  <a:lnTo>
                    <a:pt x="1363220" y="1222374"/>
                  </a:lnTo>
                  <a:lnTo>
                    <a:pt x="1507746" y="1077848"/>
                  </a:lnTo>
                  <a:lnTo>
                    <a:pt x="1567563" y="1017904"/>
                  </a:lnTo>
                  <a:lnTo>
                    <a:pt x="1023748" y="473963"/>
                  </a:lnTo>
                  <a:lnTo>
                    <a:pt x="549784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692530" y="66421"/>
              <a:ext cx="866395" cy="866774"/>
            </a:xfrm>
            <a:custGeom>
              <a:avLst/>
              <a:gdLst/>
              <a:ahLst/>
              <a:cxnLst/>
              <a:rect l="l" t="t" r="r" b="b"/>
              <a:pathLst>
                <a:path w="866395" h="866774">
                  <a:moveTo>
                    <a:pt x="0" y="0"/>
                  </a:moveTo>
                  <a:lnTo>
                    <a:pt x="866395" y="866774"/>
                  </a:lnTo>
                  <a:lnTo>
                    <a:pt x="866395" y="455421"/>
                  </a:lnTo>
                  <a:lnTo>
                    <a:pt x="411100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6421" y="66421"/>
              <a:ext cx="2492504" cy="2120898"/>
            </a:xfrm>
            <a:custGeom>
              <a:avLst/>
              <a:gdLst/>
              <a:ahLst/>
              <a:cxnLst/>
              <a:rect l="l" t="t" r="r" b="b"/>
              <a:pathLst>
                <a:path w="2492504" h="2120898">
                  <a:moveTo>
                    <a:pt x="0" y="2120898"/>
                  </a:moveTo>
                  <a:lnTo>
                    <a:pt x="2492504" y="2120898"/>
                  </a:lnTo>
                  <a:lnTo>
                    <a:pt x="24925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829420" y="404708"/>
            <a:ext cx="3696444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Conclusion</a:t>
            </a:r>
            <a:endParaRPr lang="en-US" sz="65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26700" y="2422965"/>
            <a:ext cx="6979168" cy="322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AACIP provides an evidence-grounded approach to AI-assisted cyber investigation.</a:t>
            </a:r>
            <a:endParaRPr lang="en-US" sz="18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Automates digital evidence extraction and log analysis.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Reduces reliance on manual investigation of security events.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Prevents findings from being accepted without required validation.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Distinguishes observed facts from inferences and hypotheses.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Supports evidence traceability and structured risk assessment.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Generates organized incident reports for security analysts.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56235" lvl="1" indent="-178435" algn="l">
              <a:lnSpc>
                <a:spcPts val="2275"/>
              </a:lnSpc>
              <a:buFont typeface="Arial" panose="020B0604020202020204"/>
              <a:buChar char="•"/>
            </a:pPr>
            <a:r>
              <a:rPr lang="en-US" sz="165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AACIP aims to make AI-assisted cyber investigations more reliable, explainable, and auditable.</a:t>
            </a:r>
            <a:endParaRPr lang="en-US" sz="165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0" y="1828800"/>
            <a:ext cx="1197616" cy="4078996"/>
            <a:chOff x="0" y="0"/>
            <a:chExt cx="1197623" cy="4078999"/>
          </a:xfrm>
        </p:grpSpPr>
        <p:sp>
          <p:nvSpPr>
            <p:cNvPr id="15" name="Freeform 15"/>
            <p:cNvSpPr/>
            <p:nvPr/>
          </p:nvSpPr>
          <p:spPr>
            <a:xfrm>
              <a:off x="0" y="841883"/>
              <a:ext cx="1197614" cy="2395220"/>
            </a:xfrm>
            <a:custGeom>
              <a:avLst/>
              <a:gdLst/>
              <a:ahLst/>
              <a:cxnLst/>
              <a:rect l="l" t="t" r="r" b="b"/>
              <a:pathLst>
                <a:path w="1197614" h="2395220">
                  <a:moveTo>
                    <a:pt x="0" y="0"/>
                  </a:moveTo>
                  <a:lnTo>
                    <a:pt x="0" y="2395221"/>
                  </a:lnTo>
                  <a:lnTo>
                    <a:pt x="1197614" y="1197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3506105"/>
            <a:ext cx="9753600" cy="3809095"/>
            <a:chOff x="0" y="0"/>
            <a:chExt cx="13004800" cy="50787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5078857"/>
            </a:xfrm>
            <a:custGeom>
              <a:avLst/>
              <a:gdLst/>
              <a:ahLst/>
              <a:cxnLst/>
              <a:rect l="l" t="t" r="r" b="b"/>
              <a:pathLst>
                <a:path w="13004800" h="5078857">
                  <a:moveTo>
                    <a:pt x="0" y="0"/>
                  </a:moveTo>
                  <a:lnTo>
                    <a:pt x="13004800" y="0"/>
                  </a:lnTo>
                  <a:lnTo>
                    <a:pt x="13004800" y="5078857"/>
                  </a:lnTo>
                  <a:lnTo>
                    <a:pt x="0" y="5078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56322" b="-1421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348898" y="419379"/>
            <a:ext cx="10327567" cy="7274144"/>
            <a:chOff x="0" y="0"/>
            <a:chExt cx="9880600" cy="6959324"/>
          </a:xfrm>
        </p:grpSpPr>
        <p:sp>
          <p:nvSpPr>
            <p:cNvPr id="5" name="Freeform 5"/>
            <p:cNvSpPr/>
            <p:nvPr/>
          </p:nvSpPr>
          <p:spPr>
            <a:xfrm>
              <a:off x="795020" y="66206"/>
              <a:ext cx="8286877" cy="6026891"/>
            </a:xfrm>
            <a:custGeom>
              <a:avLst/>
              <a:gdLst/>
              <a:ahLst/>
              <a:cxnLst/>
              <a:rect l="l" t="t" r="r" b="b"/>
              <a:pathLst>
                <a:path w="8286877" h="6026891">
                  <a:moveTo>
                    <a:pt x="0" y="0"/>
                  </a:moveTo>
                  <a:lnTo>
                    <a:pt x="8286877" y="0"/>
                  </a:lnTo>
                  <a:lnTo>
                    <a:pt x="8286877" y="6026891"/>
                  </a:lnTo>
                  <a:lnTo>
                    <a:pt x="0" y="6026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922272" y="2260150"/>
              <a:ext cx="95504" cy="99574"/>
            </a:xfrm>
            <a:custGeom>
              <a:avLst/>
              <a:gdLst/>
              <a:ahLst/>
              <a:cxnLst/>
              <a:rect l="l" t="t" r="r" b="b"/>
              <a:pathLst>
                <a:path w="95504" h="99574">
                  <a:moveTo>
                    <a:pt x="95504" y="49787"/>
                  </a:moveTo>
                  <a:cubicBezTo>
                    <a:pt x="95504" y="56408"/>
                    <a:pt x="94234" y="62764"/>
                    <a:pt x="91821" y="68855"/>
                  </a:cubicBezTo>
                  <a:cubicBezTo>
                    <a:pt x="89408" y="74946"/>
                    <a:pt x="85979" y="80242"/>
                    <a:pt x="81534" y="85009"/>
                  </a:cubicBezTo>
                  <a:cubicBezTo>
                    <a:pt x="77089" y="89776"/>
                    <a:pt x="71882" y="93219"/>
                    <a:pt x="66040" y="95735"/>
                  </a:cubicBezTo>
                  <a:cubicBezTo>
                    <a:pt x="60198" y="98250"/>
                    <a:pt x="54102" y="99575"/>
                    <a:pt x="47752" y="99575"/>
                  </a:cubicBezTo>
                  <a:cubicBezTo>
                    <a:pt x="41402" y="99575"/>
                    <a:pt x="35306" y="98250"/>
                    <a:pt x="29464" y="95735"/>
                  </a:cubicBezTo>
                  <a:cubicBezTo>
                    <a:pt x="23622" y="93219"/>
                    <a:pt x="18542" y="89644"/>
                    <a:pt x="13970" y="85009"/>
                  </a:cubicBezTo>
                  <a:cubicBezTo>
                    <a:pt x="9398" y="80375"/>
                    <a:pt x="6096" y="74946"/>
                    <a:pt x="3683" y="68855"/>
                  </a:cubicBezTo>
                  <a:cubicBezTo>
                    <a:pt x="1270" y="62764"/>
                    <a:pt x="0" y="56408"/>
                    <a:pt x="0" y="49787"/>
                  </a:cubicBezTo>
                  <a:cubicBezTo>
                    <a:pt x="0" y="43167"/>
                    <a:pt x="1270" y="36811"/>
                    <a:pt x="3683" y="30720"/>
                  </a:cubicBezTo>
                  <a:cubicBezTo>
                    <a:pt x="6096" y="24629"/>
                    <a:pt x="9525" y="19333"/>
                    <a:pt x="13970" y="14566"/>
                  </a:cubicBezTo>
                  <a:cubicBezTo>
                    <a:pt x="18415" y="9799"/>
                    <a:pt x="23622" y="6356"/>
                    <a:pt x="29464" y="3840"/>
                  </a:cubicBezTo>
                  <a:cubicBezTo>
                    <a:pt x="35306" y="1324"/>
                    <a:pt x="41402" y="0"/>
                    <a:pt x="47752" y="0"/>
                  </a:cubicBezTo>
                  <a:cubicBezTo>
                    <a:pt x="54102" y="0"/>
                    <a:pt x="60198" y="1324"/>
                    <a:pt x="66040" y="3840"/>
                  </a:cubicBezTo>
                  <a:cubicBezTo>
                    <a:pt x="71882" y="6356"/>
                    <a:pt x="76962" y="9931"/>
                    <a:pt x="81534" y="14566"/>
                  </a:cubicBezTo>
                  <a:cubicBezTo>
                    <a:pt x="86106" y="19200"/>
                    <a:pt x="89408" y="24629"/>
                    <a:pt x="91821" y="30720"/>
                  </a:cubicBezTo>
                  <a:cubicBezTo>
                    <a:pt x="94234" y="36811"/>
                    <a:pt x="95504" y="43167"/>
                    <a:pt x="95504" y="49787"/>
                  </a:cubicBezTo>
                  <a:close/>
                </a:path>
              </a:pathLst>
            </a:custGeom>
            <a:blipFill>
              <a:blip r:embed="rId2"/>
              <a:stretch>
                <a:fillRect l="-5807128" t="-2269816" r="-12027338" b="-433358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22272" y="2667319"/>
              <a:ext cx="95504" cy="99574"/>
            </a:xfrm>
            <a:custGeom>
              <a:avLst/>
              <a:gdLst/>
              <a:ahLst/>
              <a:cxnLst/>
              <a:rect l="l" t="t" r="r" b="b"/>
              <a:pathLst>
                <a:path w="95504" h="99574">
                  <a:moveTo>
                    <a:pt x="95504" y="49787"/>
                  </a:moveTo>
                  <a:cubicBezTo>
                    <a:pt x="95504" y="56408"/>
                    <a:pt x="94234" y="62764"/>
                    <a:pt x="91821" y="68854"/>
                  </a:cubicBezTo>
                  <a:cubicBezTo>
                    <a:pt x="89408" y="74945"/>
                    <a:pt x="85979" y="80242"/>
                    <a:pt x="81534" y="85009"/>
                  </a:cubicBezTo>
                  <a:cubicBezTo>
                    <a:pt x="77089" y="89776"/>
                    <a:pt x="71882" y="93219"/>
                    <a:pt x="66040" y="95734"/>
                  </a:cubicBezTo>
                  <a:cubicBezTo>
                    <a:pt x="60198" y="98250"/>
                    <a:pt x="54102" y="99574"/>
                    <a:pt x="47752" y="99574"/>
                  </a:cubicBezTo>
                  <a:cubicBezTo>
                    <a:pt x="41402" y="99574"/>
                    <a:pt x="35306" y="98250"/>
                    <a:pt x="29464" y="95734"/>
                  </a:cubicBezTo>
                  <a:cubicBezTo>
                    <a:pt x="23622" y="93219"/>
                    <a:pt x="18542" y="89643"/>
                    <a:pt x="13970" y="85009"/>
                  </a:cubicBezTo>
                  <a:cubicBezTo>
                    <a:pt x="9398" y="80374"/>
                    <a:pt x="6096" y="74945"/>
                    <a:pt x="3683" y="68854"/>
                  </a:cubicBezTo>
                  <a:cubicBezTo>
                    <a:pt x="1270" y="62764"/>
                    <a:pt x="0" y="56408"/>
                    <a:pt x="0" y="49787"/>
                  </a:cubicBezTo>
                  <a:cubicBezTo>
                    <a:pt x="0" y="43167"/>
                    <a:pt x="1270" y="36811"/>
                    <a:pt x="3683" y="30720"/>
                  </a:cubicBezTo>
                  <a:cubicBezTo>
                    <a:pt x="6096" y="24629"/>
                    <a:pt x="9525" y="19332"/>
                    <a:pt x="13970" y="14565"/>
                  </a:cubicBezTo>
                  <a:cubicBezTo>
                    <a:pt x="18415" y="9798"/>
                    <a:pt x="23622" y="6356"/>
                    <a:pt x="29464" y="3840"/>
                  </a:cubicBezTo>
                  <a:cubicBezTo>
                    <a:pt x="35306" y="1324"/>
                    <a:pt x="41402" y="0"/>
                    <a:pt x="47752" y="0"/>
                  </a:cubicBezTo>
                  <a:cubicBezTo>
                    <a:pt x="54102" y="0"/>
                    <a:pt x="60198" y="1324"/>
                    <a:pt x="66040" y="3840"/>
                  </a:cubicBezTo>
                  <a:cubicBezTo>
                    <a:pt x="71882" y="6356"/>
                    <a:pt x="76962" y="9931"/>
                    <a:pt x="81534" y="14565"/>
                  </a:cubicBezTo>
                  <a:cubicBezTo>
                    <a:pt x="86106" y="19200"/>
                    <a:pt x="89408" y="24629"/>
                    <a:pt x="91821" y="30720"/>
                  </a:cubicBezTo>
                  <a:cubicBezTo>
                    <a:pt x="94234" y="36811"/>
                    <a:pt x="95504" y="43167"/>
                    <a:pt x="95504" y="49787"/>
                  </a:cubicBezTo>
                  <a:close/>
                </a:path>
              </a:pathLst>
            </a:custGeom>
            <a:blipFill>
              <a:blip r:embed="rId2"/>
              <a:stretch>
                <a:fillRect l="-5807128" t="-2678726" r="-12027338" b="-3924670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922272" y="3481656"/>
              <a:ext cx="95504" cy="99575"/>
            </a:xfrm>
            <a:custGeom>
              <a:avLst/>
              <a:gdLst/>
              <a:ahLst/>
              <a:cxnLst/>
              <a:rect l="l" t="t" r="r" b="b"/>
              <a:pathLst>
                <a:path w="95504" h="99575">
                  <a:moveTo>
                    <a:pt x="95504" y="49788"/>
                  </a:moveTo>
                  <a:cubicBezTo>
                    <a:pt x="95504" y="56408"/>
                    <a:pt x="94234" y="62764"/>
                    <a:pt x="91821" y="68855"/>
                  </a:cubicBezTo>
                  <a:cubicBezTo>
                    <a:pt x="89408" y="74946"/>
                    <a:pt x="85979" y="80242"/>
                    <a:pt x="81534" y="85010"/>
                  </a:cubicBezTo>
                  <a:cubicBezTo>
                    <a:pt x="77089" y="89776"/>
                    <a:pt x="71882" y="93219"/>
                    <a:pt x="66040" y="95735"/>
                  </a:cubicBezTo>
                  <a:cubicBezTo>
                    <a:pt x="60198" y="98251"/>
                    <a:pt x="54102" y="99575"/>
                    <a:pt x="47752" y="99575"/>
                  </a:cubicBezTo>
                  <a:cubicBezTo>
                    <a:pt x="41402" y="99575"/>
                    <a:pt x="35306" y="98251"/>
                    <a:pt x="29464" y="95735"/>
                  </a:cubicBezTo>
                  <a:cubicBezTo>
                    <a:pt x="23622" y="93219"/>
                    <a:pt x="18542" y="89644"/>
                    <a:pt x="13970" y="85010"/>
                  </a:cubicBezTo>
                  <a:cubicBezTo>
                    <a:pt x="9398" y="80375"/>
                    <a:pt x="6096" y="74946"/>
                    <a:pt x="3683" y="68855"/>
                  </a:cubicBezTo>
                  <a:cubicBezTo>
                    <a:pt x="1270" y="62764"/>
                    <a:pt x="0" y="56408"/>
                    <a:pt x="0" y="49788"/>
                  </a:cubicBezTo>
                  <a:cubicBezTo>
                    <a:pt x="0" y="43167"/>
                    <a:pt x="1270" y="36811"/>
                    <a:pt x="3683" y="30720"/>
                  </a:cubicBezTo>
                  <a:cubicBezTo>
                    <a:pt x="6096" y="24629"/>
                    <a:pt x="9525" y="19333"/>
                    <a:pt x="13970" y="14566"/>
                  </a:cubicBezTo>
                  <a:cubicBezTo>
                    <a:pt x="18415" y="9799"/>
                    <a:pt x="23622" y="6356"/>
                    <a:pt x="29464" y="3841"/>
                  </a:cubicBezTo>
                  <a:cubicBezTo>
                    <a:pt x="35306" y="1325"/>
                    <a:pt x="41402" y="0"/>
                    <a:pt x="47752" y="0"/>
                  </a:cubicBezTo>
                  <a:cubicBezTo>
                    <a:pt x="54102" y="0"/>
                    <a:pt x="60198" y="1325"/>
                    <a:pt x="66040" y="3841"/>
                  </a:cubicBezTo>
                  <a:cubicBezTo>
                    <a:pt x="71882" y="6356"/>
                    <a:pt x="76962" y="9931"/>
                    <a:pt x="81534" y="14566"/>
                  </a:cubicBezTo>
                  <a:cubicBezTo>
                    <a:pt x="86106" y="19200"/>
                    <a:pt x="89408" y="24629"/>
                    <a:pt x="91821" y="30720"/>
                  </a:cubicBezTo>
                  <a:cubicBezTo>
                    <a:pt x="94234" y="36811"/>
                    <a:pt x="95504" y="43167"/>
                    <a:pt x="95504" y="4978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922272" y="3888825"/>
              <a:ext cx="95504" cy="99575"/>
            </a:xfrm>
            <a:custGeom>
              <a:avLst/>
              <a:gdLst/>
              <a:ahLst/>
              <a:cxnLst/>
              <a:rect l="l" t="t" r="r" b="b"/>
              <a:pathLst>
                <a:path w="95504" h="99575">
                  <a:moveTo>
                    <a:pt x="95504" y="49787"/>
                  </a:moveTo>
                  <a:cubicBezTo>
                    <a:pt x="95504" y="56408"/>
                    <a:pt x="94234" y="62764"/>
                    <a:pt x="91821" y="68855"/>
                  </a:cubicBezTo>
                  <a:cubicBezTo>
                    <a:pt x="89408" y="74946"/>
                    <a:pt x="85979" y="80242"/>
                    <a:pt x="81534" y="85009"/>
                  </a:cubicBezTo>
                  <a:cubicBezTo>
                    <a:pt x="77089" y="89776"/>
                    <a:pt x="71882" y="93219"/>
                    <a:pt x="66040" y="95735"/>
                  </a:cubicBezTo>
                  <a:cubicBezTo>
                    <a:pt x="60198" y="98250"/>
                    <a:pt x="54102" y="99575"/>
                    <a:pt x="47752" y="99575"/>
                  </a:cubicBezTo>
                  <a:cubicBezTo>
                    <a:pt x="41402" y="99575"/>
                    <a:pt x="35306" y="98250"/>
                    <a:pt x="29464" y="95735"/>
                  </a:cubicBezTo>
                  <a:cubicBezTo>
                    <a:pt x="23622" y="93219"/>
                    <a:pt x="18542" y="89644"/>
                    <a:pt x="13970" y="85009"/>
                  </a:cubicBezTo>
                  <a:cubicBezTo>
                    <a:pt x="9398" y="80375"/>
                    <a:pt x="6096" y="74946"/>
                    <a:pt x="3683" y="68855"/>
                  </a:cubicBezTo>
                  <a:cubicBezTo>
                    <a:pt x="1270" y="62764"/>
                    <a:pt x="0" y="56408"/>
                    <a:pt x="0" y="49787"/>
                  </a:cubicBezTo>
                  <a:cubicBezTo>
                    <a:pt x="0" y="43167"/>
                    <a:pt x="1270" y="36811"/>
                    <a:pt x="3683" y="30720"/>
                  </a:cubicBezTo>
                  <a:cubicBezTo>
                    <a:pt x="6096" y="24629"/>
                    <a:pt x="9525" y="19333"/>
                    <a:pt x="13970" y="14565"/>
                  </a:cubicBezTo>
                  <a:cubicBezTo>
                    <a:pt x="18415" y="9799"/>
                    <a:pt x="23622" y="6356"/>
                    <a:pt x="29464" y="3840"/>
                  </a:cubicBezTo>
                  <a:cubicBezTo>
                    <a:pt x="35306" y="1324"/>
                    <a:pt x="41402" y="0"/>
                    <a:pt x="47752" y="0"/>
                  </a:cubicBezTo>
                  <a:cubicBezTo>
                    <a:pt x="54102" y="0"/>
                    <a:pt x="60198" y="1324"/>
                    <a:pt x="66040" y="3840"/>
                  </a:cubicBezTo>
                  <a:cubicBezTo>
                    <a:pt x="71882" y="6356"/>
                    <a:pt x="76962" y="9931"/>
                    <a:pt x="81534" y="14565"/>
                  </a:cubicBezTo>
                  <a:cubicBezTo>
                    <a:pt x="86106" y="19200"/>
                    <a:pt x="89408" y="24629"/>
                    <a:pt x="91821" y="30720"/>
                  </a:cubicBezTo>
                  <a:cubicBezTo>
                    <a:pt x="94234" y="36811"/>
                    <a:pt x="95504" y="43167"/>
                    <a:pt x="95504" y="4978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922272" y="4295994"/>
              <a:ext cx="95504" cy="99574"/>
            </a:xfrm>
            <a:custGeom>
              <a:avLst/>
              <a:gdLst/>
              <a:ahLst/>
              <a:cxnLst/>
              <a:rect l="l" t="t" r="r" b="b"/>
              <a:pathLst>
                <a:path w="95504" h="99574">
                  <a:moveTo>
                    <a:pt x="95504" y="49787"/>
                  </a:moveTo>
                  <a:cubicBezTo>
                    <a:pt x="95504" y="56408"/>
                    <a:pt x="94234" y="62764"/>
                    <a:pt x="91821" y="68854"/>
                  </a:cubicBezTo>
                  <a:cubicBezTo>
                    <a:pt x="89408" y="74945"/>
                    <a:pt x="85979" y="80242"/>
                    <a:pt x="81534" y="85009"/>
                  </a:cubicBezTo>
                  <a:cubicBezTo>
                    <a:pt x="77089" y="89776"/>
                    <a:pt x="71882" y="93218"/>
                    <a:pt x="66040" y="95734"/>
                  </a:cubicBezTo>
                  <a:cubicBezTo>
                    <a:pt x="60198" y="98250"/>
                    <a:pt x="54102" y="99574"/>
                    <a:pt x="47752" y="99574"/>
                  </a:cubicBezTo>
                  <a:cubicBezTo>
                    <a:pt x="41402" y="99574"/>
                    <a:pt x="35306" y="98250"/>
                    <a:pt x="29464" y="95734"/>
                  </a:cubicBezTo>
                  <a:cubicBezTo>
                    <a:pt x="23622" y="93218"/>
                    <a:pt x="18542" y="89643"/>
                    <a:pt x="13970" y="85009"/>
                  </a:cubicBezTo>
                  <a:cubicBezTo>
                    <a:pt x="9398" y="80374"/>
                    <a:pt x="6096" y="74945"/>
                    <a:pt x="3683" y="68854"/>
                  </a:cubicBezTo>
                  <a:cubicBezTo>
                    <a:pt x="1270" y="62764"/>
                    <a:pt x="0" y="56408"/>
                    <a:pt x="0" y="49787"/>
                  </a:cubicBezTo>
                  <a:cubicBezTo>
                    <a:pt x="0" y="43166"/>
                    <a:pt x="1270" y="36811"/>
                    <a:pt x="3683" y="30719"/>
                  </a:cubicBezTo>
                  <a:cubicBezTo>
                    <a:pt x="6096" y="24629"/>
                    <a:pt x="9525" y="19332"/>
                    <a:pt x="13970" y="14565"/>
                  </a:cubicBezTo>
                  <a:cubicBezTo>
                    <a:pt x="18415" y="9799"/>
                    <a:pt x="23622" y="6356"/>
                    <a:pt x="29464" y="3840"/>
                  </a:cubicBezTo>
                  <a:cubicBezTo>
                    <a:pt x="35306" y="1324"/>
                    <a:pt x="41402" y="0"/>
                    <a:pt x="47752" y="0"/>
                  </a:cubicBezTo>
                  <a:cubicBezTo>
                    <a:pt x="54102" y="0"/>
                    <a:pt x="60198" y="1324"/>
                    <a:pt x="66040" y="3840"/>
                  </a:cubicBezTo>
                  <a:cubicBezTo>
                    <a:pt x="71882" y="6356"/>
                    <a:pt x="76962" y="9931"/>
                    <a:pt x="81534" y="14565"/>
                  </a:cubicBezTo>
                  <a:cubicBezTo>
                    <a:pt x="86106" y="19200"/>
                    <a:pt x="89408" y="24629"/>
                    <a:pt x="91821" y="30719"/>
                  </a:cubicBezTo>
                  <a:cubicBezTo>
                    <a:pt x="94234" y="36811"/>
                    <a:pt x="95504" y="43166"/>
                    <a:pt x="95504" y="4978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922272" y="4703163"/>
              <a:ext cx="95504" cy="99575"/>
            </a:xfrm>
            <a:custGeom>
              <a:avLst/>
              <a:gdLst/>
              <a:ahLst/>
              <a:cxnLst/>
              <a:rect l="l" t="t" r="r" b="b"/>
              <a:pathLst>
                <a:path w="95504" h="99575">
                  <a:moveTo>
                    <a:pt x="95504" y="49787"/>
                  </a:moveTo>
                  <a:cubicBezTo>
                    <a:pt x="95504" y="56407"/>
                    <a:pt x="94234" y="62763"/>
                    <a:pt x="91821" y="68854"/>
                  </a:cubicBezTo>
                  <a:cubicBezTo>
                    <a:pt x="89408" y="74945"/>
                    <a:pt x="85979" y="80242"/>
                    <a:pt x="81534" y="85009"/>
                  </a:cubicBezTo>
                  <a:cubicBezTo>
                    <a:pt x="77089" y="89775"/>
                    <a:pt x="71882" y="93218"/>
                    <a:pt x="66040" y="95734"/>
                  </a:cubicBezTo>
                  <a:cubicBezTo>
                    <a:pt x="60198" y="98250"/>
                    <a:pt x="54102" y="99574"/>
                    <a:pt x="47752" y="99574"/>
                  </a:cubicBezTo>
                  <a:cubicBezTo>
                    <a:pt x="41402" y="99574"/>
                    <a:pt x="35306" y="98250"/>
                    <a:pt x="29464" y="95734"/>
                  </a:cubicBezTo>
                  <a:cubicBezTo>
                    <a:pt x="23622" y="93218"/>
                    <a:pt x="18542" y="89643"/>
                    <a:pt x="13970" y="85009"/>
                  </a:cubicBezTo>
                  <a:cubicBezTo>
                    <a:pt x="9398" y="80374"/>
                    <a:pt x="6096" y="74945"/>
                    <a:pt x="3683" y="68854"/>
                  </a:cubicBezTo>
                  <a:cubicBezTo>
                    <a:pt x="1270" y="62763"/>
                    <a:pt x="0" y="56407"/>
                    <a:pt x="0" y="49787"/>
                  </a:cubicBezTo>
                  <a:cubicBezTo>
                    <a:pt x="0" y="43166"/>
                    <a:pt x="1270" y="36810"/>
                    <a:pt x="3683" y="30719"/>
                  </a:cubicBezTo>
                  <a:cubicBezTo>
                    <a:pt x="6096" y="24628"/>
                    <a:pt x="9525" y="19332"/>
                    <a:pt x="13970" y="14565"/>
                  </a:cubicBezTo>
                  <a:cubicBezTo>
                    <a:pt x="18415" y="9798"/>
                    <a:pt x="23622" y="6355"/>
                    <a:pt x="29464" y="3840"/>
                  </a:cubicBezTo>
                  <a:cubicBezTo>
                    <a:pt x="35306" y="1323"/>
                    <a:pt x="41402" y="0"/>
                    <a:pt x="47752" y="0"/>
                  </a:cubicBezTo>
                  <a:cubicBezTo>
                    <a:pt x="54102" y="0"/>
                    <a:pt x="60198" y="1323"/>
                    <a:pt x="66040" y="3840"/>
                  </a:cubicBezTo>
                  <a:cubicBezTo>
                    <a:pt x="71882" y="6355"/>
                    <a:pt x="76962" y="9930"/>
                    <a:pt x="81534" y="14565"/>
                  </a:cubicBezTo>
                  <a:cubicBezTo>
                    <a:pt x="86106" y="19200"/>
                    <a:pt x="89408" y="24628"/>
                    <a:pt x="91821" y="30719"/>
                  </a:cubicBezTo>
                  <a:cubicBezTo>
                    <a:pt x="94234" y="36810"/>
                    <a:pt x="95504" y="43166"/>
                    <a:pt x="95504" y="4978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2921683"/>
              <a:ext cx="9753600" cy="3971451"/>
            </a:xfrm>
            <a:custGeom>
              <a:avLst/>
              <a:gdLst/>
              <a:ahLst/>
              <a:cxnLst/>
              <a:rect l="l" t="t" r="r" b="b"/>
              <a:pathLst>
                <a:path w="9753600" h="3971451">
                  <a:moveTo>
                    <a:pt x="0" y="3971451"/>
                  </a:moveTo>
                  <a:lnTo>
                    <a:pt x="9753600" y="3971451"/>
                  </a:lnTo>
                  <a:lnTo>
                    <a:pt x="975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381599" y="516255"/>
            <a:ext cx="3433286" cy="105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Referenc</a:t>
            </a:r>
            <a:r>
              <a:rPr lang="en-IN" alt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e</a:t>
            </a:r>
            <a:r>
              <a:rPr lang="en-US" sz="54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s</a:t>
            </a:r>
            <a:endParaRPr lang="en-US" sz="54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32211" y="2747077"/>
            <a:ext cx="76086" cy="40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lang="en-US" sz="2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13445" y="1566544"/>
            <a:ext cx="6126710" cy="493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NIST SP 800-86 – Digital Forensics Guide 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https://csrc.nist.gov/pubs/sp/800/86/final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MITRE ATT&amp;CK Framework 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https://attack.mitre.org/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Python Documentation 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https://docs.python.org/3/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4. FastAPI Documentation 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https://fastapi.tiangolo.com/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5. Pydantic Documentation*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https://docs.pydantic.dev/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6</a:t>
            </a: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 Research Paper – Survey of Hallucination in Natural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Language Generation 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2210"/>
              </a:lnSpc>
            </a:pPr>
            <a:r>
              <a:rPr lang="en-US" sz="158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https://doi.org/10.1145/3571730</a:t>
            </a:r>
            <a:endParaRPr lang="en-US" sz="158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1505902" y="3931920"/>
            <a:ext cx="312420" cy="312420"/>
            <a:chOff x="0" y="0"/>
            <a:chExt cx="416560" cy="416560"/>
          </a:xfrm>
        </p:grpSpPr>
        <p:sp>
          <p:nvSpPr>
            <p:cNvPr id="17" name="Freeform 17"/>
            <p:cNvSpPr/>
            <p:nvPr/>
          </p:nvSpPr>
          <p:spPr>
            <a:xfrm>
              <a:off x="50608" y="48720"/>
              <a:ext cx="310072" cy="317232"/>
            </a:xfrm>
            <a:custGeom>
              <a:avLst/>
              <a:gdLst/>
              <a:ahLst/>
              <a:cxnLst/>
              <a:rect l="l" t="t" r="r" b="b"/>
              <a:pathLst>
                <a:path w="310072" h="317232">
                  <a:moveTo>
                    <a:pt x="310072" y="111300"/>
                  </a:moveTo>
                  <a:cubicBezTo>
                    <a:pt x="310072" y="211630"/>
                    <a:pt x="298642" y="237030"/>
                    <a:pt x="283402" y="256080"/>
                  </a:cubicBezTo>
                  <a:cubicBezTo>
                    <a:pt x="268162" y="276400"/>
                    <a:pt x="246572" y="292910"/>
                    <a:pt x="223712" y="303070"/>
                  </a:cubicBezTo>
                  <a:cubicBezTo>
                    <a:pt x="202122" y="313230"/>
                    <a:pt x="174182" y="318310"/>
                    <a:pt x="148782" y="317040"/>
                  </a:cubicBezTo>
                  <a:cubicBezTo>
                    <a:pt x="124652" y="315770"/>
                    <a:pt x="97982" y="306880"/>
                    <a:pt x="76392" y="294180"/>
                  </a:cubicBezTo>
                  <a:cubicBezTo>
                    <a:pt x="56072" y="281480"/>
                    <a:pt x="35752" y="261160"/>
                    <a:pt x="23052" y="240840"/>
                  </a:cubicBezTo>
                  <a:cubicBezTo>
                    <a:pt x="10352" y="219250"/>
                    <a:pt x="1462" y="192580"/>
                    <a:pt x="192" y="168450"/>
                  </a:cubicBezTo>
                  <a:cubicBezTo>
                    <a:pt x="-1078" y="143050"/>
                    <a:pt x="4002" y="116380"/>
                    <a:pt x="14162" y="93520"/>
                  </a:cubicBezTo>
                  <a:cubicBezTo>
                    <a:pt x="24322" y="70660"/>
                    <a:pt x="42102" y="49070"/>
                    <a:pt x="61152" y="33830"/>
                  </a:cubicBezTo>
                  <a:cubicBezTo>
                    <a:pt x="80202" y="18590"/>
                    <a:pt x="105602" y="7160"/>
                    <a:pt x="129732" y="2080"/>
                  </a:cubicBezTo>
                  <a:cubicBezTo>
                    <a:pt x="153862" y="-1730"/>
                    <a:pt x="183072" y="-460"/>
                    <a:pt x="205932" y="7160"/>
                  </a:cubicBezTo>
                  <a:cubicBezTo>
                    <a:pt x="230062" y="14780"/>
                    <a:pt x="270702" y="46530"/>
                    <a:pt x="270702" y="46530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0">
            <a:off x="1562100" y="4409122"/>
            <a:ext cx="312420" cy="312420"/>
            <a:chOff x="0" y="0"/>
            <a:chExt cx="416560" cy="416560"/>
          </a:xfrm>
        </p:grpSpPr>
        <p:sp>
          <p:nvSpPr>
            <p:cNvPr id="19" name="Freeform 19"/>
            <p:cNvSpPr/>
            <p:nvPr/>
          </p:nvSpPr>
          <p:spPr>
            <a:xfrm>
              <a:off x="50608" y="48720"/>
              <a:ext cx="310072" cy="317232"/>
            </a:xfrm>
            <a:custGeom>
              <a:avLst/>
              <a:gdLst/>
              <a:ahLst/>
              <a:cxnLst/>
              <a:rect l="l" t="t" r="r" b="b"/>
              <a:pathLst>
                <a:path w="310072" h="317232">
                  <a:moveTo>
                    <a:pt x="310072" y="111300"/>
                  </a:moveTo>
                  <a:cubicBezTo>
                    <a:pt x="310072" y="211630"/>
                    <a:pt x="298642" y="237030"/>
                    <a:pt x="283402" y="256080"/>
                  </a:cubicBezTo>
                  <a:cubicBezTo>
                    <a:pt x="268162" y="276400"/>
                    <a:pt x="246572" y="292910"/>
                    <a:pt x="223712" y="303070"/>
                  </a:cubicBezTo>
                  <a:cubicBezTo>
                    <a:pt x="202122" y="313230"/>
                    <a:pt x="174182" y="318310"/>
                    <a:pt x="148782" y="317040"/>
                  </a:cubicBezTo>
                  <a:cubicBezTo>
                    <a:pt x="124652" y="315770"/>
                    <a:pt x="97982" y="306880"/>
                    <a:pt x="76392" y="294180"/>
                  </a:cubicBezTo>
                  <a:cubicBezTo>
                    <a:pt x="56072" y="281480"/>
                    <a:pt x="35752" y="261160"/>
                    <a:pt x="23052" y="240840"/>
                  </a:cubicBezTo>
                  <a:cubicBezTo>
                    <a:pt x="10352" y="219250"/>
                    <a:pt x="1462" y="192580"/>
                    <a:pt x="192" y="168450"/>
                  </a:cubicBezTo>
                  <a:cubicBezTo>
                    <a:pt x="-1078" y="143050"/>
                    <a:pt x="4002" y="116380"/>
                    <a:pt x="14162" y="93520"/>
                  </a:cubicBezTo>
                  <a:cubicBezTo>
                    <a:pt x="24322" y="70660"/>
                    <a:pt x="42102" y="49070"/>
                    <a:pt x="61152" y="33830"/>
                  </a:cubicBezTo>
                  <a:cubicBezTo>
                    <a:pt x="80202" y="18590"/>
                    <a:pt x="105602" y="7160"/>
                    <a:pt x="129732" y="2080"/>
                  </a:cubicBezTo>
                  <a:cubicBezTo>
                    <a:pt x="153862" y="-1730"/>
                    <a:pt x="183072" y="-460"/>
                    <a:pt x="205932" y="7160"/>
                  </a:cubicBezTo>
                  <a:cubicBezTo>
                    <a:pt x="230062" y="14780"/>
                    <a:pt x="270702" y="46530"/>
                    <a:pt x="270702" y="46530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 rot="0">
            <a:off x="1562100" y="4815840"/>
            <a:ext cx="312420" cy="312420"/>
            <a:chOff x="0" y="0"/>
            <a:chExt cx="416560" cy="416560"/>
          </a:xfrm>
        </p:grpSpPr>
        <p:sp>
          <p:nvSpPr>
            <p:cNvPr id="21" name="Freeform 21"/>
            <p:cNvSpPr/>
            <p:nvPr/>
          </p:nvSpPr>
          <p:spPr>
            <a:xfrm>
              <a:off x="50608" y="48720"/>
              <a:ext cx="310072" cy="317232"/>
            </a:xfrm>
            <a:custGeom>
              <a:avLst/>
              <a:gdLst/>
              <a:ahLst/>
              <a:cxnLst/>
              <a:rect l="l" t="t" r="r" b="b"/>
              <a:pathLst>
                <a:path w="310072" h="317232">
                  <a:moveTo>
                    <a:pt x="310072" y="111300"/>
                  </a:moveTo>
                  <a:cubicBezTo>
                    <a:pt x="310072" y="211630"/>
                    <a:pt x="298642" y="237030"/>
                    <a:pt x="283402" y="257350"/>
                  </a:cubicBezTo>
                  <a:cubicBezTo>
                    <a:pt x="268162" y="276400"/>
                    <a:pt x="246572" y="292910"/>
                    <a:pt x="223712" y="303070"/>
                  </a:cubicBezTo>
                  <a:cubicBezTo>
                    <a:pt x="202122" y="313230"/>
                    <a:pt x="174182" y="318310"/>
                    <a:pt x="148782" y="317040"/>
                  </a:cubicBezTo>
                  <a:cubicBezTo>
                    <a:pt x="124652" y="315770"/>
                    <a:pt x="97982" y="306880"/>
                    <a:pt x="76392" y="294180"/>
                  </a:cubicBezTo>
                  <a:cubicBezTo>
                    <a:pt x="56072" y="281480"/>
                    <a:pt x="35752" y="262430"/>
                    <a:pt x="23052" y="240840"/>
                  </a:cubicBezTo>
                  <a:cubicBezTo>
                    <a:pt x="10352" y="220520"/>
                    <a:pt x="1462" y="192580"/>
                    <a:pt x="192" y="168450"/>
                  </a:cubicBezTo>
                  <a:cubicBezTo>
                    <a:pt x="-1078" y="144320"/>
                    <a:pt x="4002" y="116380"/>
                    <a:pt x="14162" y="93520"/>
                  </a:cubicBezTo>
                  <a:cubicBezTo>
                    <a:pt x="24322" y="70660"/>
                    <a:pt x="42102" y="49070"/>
                    <a:pt x="61152" y="33830"/>
                  </a:cubicBezTo>
                  <a:cubicBezTo>
                    <a:pt x="80202" y="18590"/>
                    <a:pt x="105602" y="7160"/>
                    <a:pt x="129732" y="2080"/>
                  </a:cubicBezTo>
                  <a:cubicBezTo>
                    <a:pt x="153862" y="-1730"/>
                    <a:pt x="183072" y="-460"/>
                    <a:pt x="205932" y="7160"/>
                  </a:cubicBezTo>
                  <a:cubicBezTo>
                    <a:pt x="230062" y="14780"/>
                    <a:pt x="270702" y="46530"/>
                    <a:pt x="270702" y="46530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562100" y="5223510"/>
            <a:ext cx="312420" cy="312420"/>
            <a:chOff x="0" y="0"/>
            <a:chExt cx="416560" cy="416560"/>
          </a:xfrm>
        </p:grpSpPr>
        <p:sp>
          <p:nvSpPr>
            <p:cNvPr id="23" name="Freeform 23"/>
            <p:cNvSpPr/>
            <p:nvPr/>
          </p:nvSpPr>
          <p:spPr>
            <a:xfrm>
              <a:off x="50608" y="48098"/>
              <a:ext cx="310072" cy="317854"/>
            </a:xfrm>
            <a:custGeom>
              <a:avLst/>
              <a:gdLst/>
              <a:ahLst/>
              <a:cxnLst/>
              <a:rect l="l" t="t" r="r" b="b"/>
              <a:pathLst>
                <a:path w="310072" h="317854">
                  <a:moveTo>
                    <a:pt x="310072" y="111922"/>
                  </a:moveTo>
                  <a:cubicBezTo>
                    <a:pt x="310072" y="210982"/>
                    <a:pt x="298642" y="237652"/>
                    <a:pt x="283402" y="256702"/>
                  </a:cubicBezTo>
                  <a:cubicBezTo>
                    <a:pt x="268162" y="275752"/>
                    <a:pt x="246572" y="293532"/>
                    <a:pt x="223712" y="303692"/>
                  </a:cubicBezTo>
                  <a:cubicBezTo>
                    <a:pt x="202122" y="313852"/>
                    <a:pt x="174182" y="318932"/>
                    <a:pt x="148782" y="317662"/>
                  </a:cubicBezTo>
                  <a:cubicBezTo>
                    <a:pt x="124652" y="315122"/>
                    <a:pt x="97982" y="307502"/>
                    <a:pt x="76392" y="294802"/>
                  </a:cubicBezTo>
                  <a:cubicBezTo>
                    <a:pt x="56072" y="282102"/>
                    <a:pt x="35752" y="261782"/>
                    <a:pt x="23052" y="240192"/>
                  </a:cubicBezTo>
                  <a:cubicBezTo>
                    <a:pt x="10352" y="219872"/>
                    <a:pt x="1462" y="193202"/>
                    <a:pt x="192" y="167802"/>
                  </a:cubicBezTo>
                  <a:cubicBezTo>
                    <a:pt x="-1078" y="143672"/>
                    <a:pt x="4002" y="115732"/>
                    <a:pt x="14162" y="92872"/>
                  </a:cubicBezTo>
                  <a:cubicBezTo>
                    <a:pt x="24322" y="71282"/>
                    <a:pt x="42102" y="48422"/>
                    <a:pt x="61152" y="33182"/>
                  </a:cubicBezTo>
                  <a:cubicBezTo>
                    <a:pt x="80202" y="17942"/>
                    <a:pt x="105602" y="6512"/>
                    <a:pt x="129732" y="2702"/>
                  </a:cubicBezTo>
                  <a:cubicBezTo>
                    <a:pt x="153862" y="-2378"/>
                    <a:pt x="183072" y="162"/>
                    <a:pt x="205932" y="6512"/>
                  </a:cubicBezTo>
                  <a:cubicBezTo>
                    <a:pt x="230062" y="14132"/>
                    <a:pt x="270702" y="45882"/>
                    <a:pt x="270702" y="45882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563052" y="2710815"/>
            <a:ext cx="227647" cy="227647"/>
            <a:chOff x="0" y="0"/>
            <a:chExt cx="303530" cy="303530"/>
          </a:xfrm>
        </p:grpSpPr>
        <p:sp>
          <p:nvSpPr>
            <p:cNvPr id="25" name="Freeform 25"/>
            <p:cNvSpPr/>
            <p:nvPr/>
          </p:nvSpPr>
          <p:spPr>
            <a:xfrm>
              <a:off x="50557" y="49530"/>
              <a:ext cx="198363" cy="203443"/>
            </a:xfrm>
            <a:custGeom>
              <a:avLst/>
              <a:gdLst/>
              <a:ahLst/>
              <a:cxnLst/>
              <a:rect l="l" t="t" r="r" b="b"/>
              <a:pathLst>
                <a:path w="198363" h="203443">
                  <a:moveTo>
                    <a:pt x="198363" y="71120"/>
                  </a:moveTo>
                  <a:cubicBezTo>
                    <a:pt x="198363" y="135890"/>
                    <a:pt x="190743" y="152400"/>
                    <a:pt x="181853" y="165100"/>
                  </a:cubicBezTo>
                  <a:cubicBezTo>
                    <a:pt x="171693" y="176530"/>
                    <a:pt x="157723" y="187960"/>
                    <a:pt x="143753" y="194310"/>
                  </a:cubicBezTo>
                  <a:cubicBezTo>
                    <a:pt x="128513" y="200660"/>
                    <a:pt x="110733" y="204470"/>
                    <a:pt x="95493" y="203200"/>
                  </a:cubicBezTo>
                  <a:cubicBezTo>
                    <a:pt x="78983" y="201930"/>
                    <a:pt x="62473" y="196850"/>
                    <a:pt x="48503" y="189230"/>
                  </a:cubicBezTo>
                  <a:cubicBezTo>
                    <a:pt x="35803" y="180340"/>
                    <a:pt x="23103" y="167640"/>
                    <a:pt x="14213" y="154940"/>
                  </a:cubicBezTo>
                  <a:cubicBezTo>
                    <a:pt x="6593" y="140970"/>
                    <a:pt x="1513" y="123190"/>
                    <a:pt x="243" y="107950"/>
                  </a:cubicBezTo>
                  <a:cubicBezTo>
                    <a:pt x="-1027" y="92710"/>
                    <a:pt x="2783" y="74930"/>
                    <a:pt x="9133" y="59690"/>
                  </a:cubicBezTo>
                  <a:cubicBezTo>
                    <a:pt x="15483" y="45720"/>
                    <a:pt x="26913" y="31750"/>
                    <a:pt x="38343" y="21590"/>
                  </a:cubicBezTo>
                  <a:cubicBezTo>
                    <a:pt x="51043" y="12700"/>
                    <a:pt x="67553" y="5080"/>
                    <a:pt x="82793" y="1270"/>
                  </a:cubicBezTo>
                  <a:cubicBezTo>
                    <a:pt x="98033" y="-1270"/>
                    <a:pt x="117083" y="0"/>
                    <a:pt x="132323" y="5080"/>
                  </a:cubicBezTo>
                  <a:cubicBezTo>
                    <a:pt x="146293" y="8890"/>
                    <a:pt x="172963" y="30480"/>
                    <a:pt x="172963" y="30480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 rot="0">
            <a:off x="1604962" y="3132772"/>
            <a:ext cx="227647" cy="227647"/>
            <a:chOff x="0" y="0"/>
            <a:chExt cx="303530" cy="303530"/>
          </a:xfrm>
        </p:grpSpPr>
        <p:sp>
          <p:nvSpPr>
            <p:cNvPr id="27" name="Freeform 27"/>
            <p:cNvSpPr/>
            <p:nvPr/>
          </p:nvSpPr>
          <p:spPr>
            <a:xfrm>
              <a:off x="50557" y="48585"/>
              <a:ext cx="198363" cy="203119"/>
            </a:xfrm>
            <a:custGeom>
              <a:avLst/>
              <a:gdLst/>
              <a:ahLst/>
              <a:cxnLst/>
              <a:rect l="l" t="t" r="r" b="b"/>
              <a:pathLst>
                <a:path w="198363" h="203119">
                  <a:moveTo>
                    <a:pt x="198363" y="70795"/>
                  </a:moveTo>
                  <a:cubicBezTo>
                    <a:pt x="198363" y="135565"/>
                    <a:pt x="192013" y="152075"/>
                    <a:pt x="181853" y="164775"/>
                  </a:cubicBezTo>
                  <a:cubicBezTo>
                    <a:pt x="171693" y="176205"/>
                    <a:pt x="157723" y="187635"/>
                    <a:pt x="143753" y="193985"/>
                  </a:cubicBezTo>
                  <a:cubicBezTo>
                    <a:pt x="128513" y="200335"/>
                    <a:pt x="110733" y="204145"/>
                    <a:pt x="95493" y="202875"/>
                  </a:cubicBezTo>
                  <a:cubicBezTo>
                    <a:pt x="80253" y="201605"/>
                    <a:pt x="62473" y="196525"/>
                    <a:pt x="48503" y="188905"/>
                  </a:cubicBezTo>
                  <a:cubicBezTo>
                    <a:pt x="35803" y="180015"/>
                    <a:pt x="23103" y="167315"/>
                    <a:pt x="14213" y="154615"/>
                  </a:cubicBezTo>
                  <a:cubicBezTo>
                    <a:pt x="6593" y="140645"/>
                    <a:pt x="1513" y="122865"/>
                    <a:pt x="243" y="107625"/>
                  </a:cubicBezTo>
                  <a:cubicBezTo>
                    <a:pt x="-1027" y="92385"/>
                    <a:pt x="2783" y="74605"/>
                    <a:pt x="9133" y="59365"/>
                  </a:cubicBezTo>
                  <a:cubicBezTo>
                    <a:pt x="15483" y="45395"/>
                    <a:pt x="26913" y="31425"/>
                    <a:pt x="39613" y="21265"/>
                  </a:cubicBezTo>
                  <a:cubicBezTo>
                    <a:pt x="51043" y="12375"/>
                    <a:pt x="67553" y="4755"/>
                    <a:pt x="82793" y="2215"/>
                  </a:cubicBezTo>
                  <a:cubicBezTo>
                    <a:pt x="99303" y="-1595"/>
                    <a:pt x="117083" y="-325"/>
                    <a:pt x="132323" y="4755"/>
                  </a:cubicBezTo>
                  <a:cubicBezTo>
                    <a:pt x="147563" y="9835"/>
                    <a:pt x="172963" y="30155"/>
                    <a:pt x="172963" y="30155"/>
                  </a:cubicBezTo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017" y="668017"/>
            <a:ext cx="1438027" cy="1006583"/>
          </a:xfrm>
          <a:custGeom>
            <a:avLst/>
            <a:gdLst/>
            <a:ahLst/>
            <a:cxnLst/>
            <a:rect l="l" t="t" r="r" b="b"/>
            <a:pathLst>
              <a:path w="1438027" h="1006583">
                <a:moveTo>
                  <a:pt x="0" y="0"/>
                </a:moveTo>
                <a:lnTo>
                  <a:pt x="1438027" y="0"/>
                </a:lnTo>
                <a:lnTo>
                  <a:pt x="1438027" y="1006583"/>
                </a:lnTo>
                <a:lnTo>
                  <a:pt x="0" y="100658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63503" y="-66380"/>
            <a:ext cx="9883645" cy="7448121"/>
            <a:chOff x="0" y="0"/>
            <a:chExt cx="9883648" cy="7448118"/>
          </a:xfrm>
        </p:grpSpPr>
        <p:sp>
          <p:nvSpPr>
            <p:cNvPr id="4" name="Freeform 4"/>
            <p:cNvSpPr/>
            <p:nvPr/>
          </p:nvSpPr>
          <p:spPr>
            <a:xfrm>
              <a:off x="7046087" y="2571113"/>
              <a:ext cx="2771013" cy="4078983"/>
            </a:xfrm>
            <a:custGeom>
              <a:avLst/>
              <a:gdLst/>
              <a:ahLst/>
              <a:cxnLst/>
              <a:rect l="l" t="t" r="r" b="b"/>
              <a:pathLst>
                <a:path w="2771013" h="4078983">
                  <a:moveTo>
                    <a:pt x="2039493" y="0"/>
                  </a:moveTo>
                  <a:lnTo>
                    <a:pt x="0" y="2039491"/>
                  </a:lnTo>
                  <a:lnTo>
                    <a:pt x="2039493" y="4078983"/>
                  </a:lnTo>
                  <a:lnTo>
                    <a:pt x="2771013" y="3347463"/>
                  </a:lnTo>
                  <a:lnTo>
                    <a:pt x="2771013" y="731519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650096"/>
              <a:ext cx="9753600" cy="731519"/>
            </a:xfrm>
            <a:custGeom>
              <a:avLst/>
              <a:gdLst/>
              <a:ahLst/>
              <a:cxnLst/>
              <a:rect l="l" t="t" r="r" b="b"/>
              <a:pathLst>
                <a:path w="9753600" h="731519">
                  <a:moveTo>
                    <a:pt x="0" y="0"/>
                  </a:moveTo>
                  <a:lnTo>
                    <a:pt x="0" y="731519"/>
                  </a:lnTo>
                  <a:lnTo>
                    <a:pt x="9753600" y="731519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8031607" y="6437116"/>
              <a:ext cx="1730883" cy="944498"/>
            </a:xfrm>
            <a:custGeom>
              <a:avLst/>
              <a:gdLst/>
              <a:ahLst/>
              <a:cxnLst/>
              <a:rect l="l" t="t" r="r" b="b"/>
              <a:pathLst>
                <a:path w="1730883" h="944498">
                  <a:moveTo>
                    <a:pt x="865378" y="0"/>
                  </a:moveTo>
                  <a:lnTo>
                    <a:pt x="0" y="944499"/>
                  </a:lnTo>
                  <a:lnTo>
                    <a:pt x="1730883" y="944499"/>
                  </a:lnTo>
                  <a:lnTo>
                    <a:pt x="865378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8407400" y="6440799"/>
              <a:ext cx="1355090" cy="940815"/>
            </a:xfrm>
            <a:custGeom>
              <a:avLst/>
              <a:gdLst/>
              <a:ahLst/>
              <a:cxnLst/>
              <a:rect l="l" t="t" r="r" b="b"/>
              <a:pathLst>
                <a:path w="1355090" h="940815">
                  <a:moveTo>
                    <a:pt x="492887" y="0"/>
                  </a:moveTo>
                  <a:lnTo>
                    <a:pt x="0" y="537972"/>
                  </a:lnTo>
                  <a:lnTo>
                    <a:pt x="360934" y="940816"/>
                  </a:lnTo>
                  <a:lnTo>
                    <a:pt x="1355090" y="940816"/>
                  </a:lnTo>
                  <a:lnTo>
                    <a:pt x="492887" y="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666101" y="5842249"/>
              <a:ext cx="2150872" cy="1539366"/>
            </a:xfrm>
            <a:custGeom>
              <a:avLst/>
              <a:gdLst/>
              <a:ahLst/>
              <a:cxnLst/>
              <a:rect l="l" t="t" r="r" b="b"/>
              <a:pathLst>
                <a:path w="2150872" h="1539366">
                  <a:moveTo>
                    <a:pt x="1410462" y="0"/>
                  </a:moveTo>
                  <a:lnTo>
                    <a:pt x="0" y="1539366"/>
                  </a:lnTo>
                  <a:lnTo>
                    <a:pt x="368427" y="1539366"/>
                  </a:lnTo>
                  <a:lnTo>
                    <a:pt x="1413002" y="403352"/>
                  </a:lnTo>
                  <a:lnTo>
                    <a:pt x="2150872" y="1208531"/>
                  </a:lnTo>
                  <a:lnTo>
                    <a:pt x="2150872" y="802259"/>
                  </a:lnTo>
                  <a:lnTo>
                    <a:pt x="141554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4943348" y="66421"/>
              <a:ext cx="4077589" cy="3543297"/>
            </a:xfrm>
            <a:custGeom>
              <a:avLst/>
              <a:gdLst/>
              <a:ahLst/>
              <a:cxnLst/>
              <a:rect l="l" t="t" r="r" b="b"/>
              <a:pathLst>
                <a:path w="4077589" h="3543297">
                  <a:moveTo>
                    <a:pt x="0" y="0"/>
                  </a:moveTo>
                  <a:lnTo>
                    <a:pt x="3540379" y="3543297"/>
                  </a:lnTo>
                  <a:lnTo>
                    <a:pt x="3904107" y="3179188"/>
                  </a:lnTo>
                  <a:lnTo>
                    <a:pt x="4077589" y="3005579"/>
                  </a:lnTo>
                  <a:lnTo>
                    <a:pt x="3507866" y="2435477"/>
                  </a:lnTo>
                  <a:lnTo>
                    <a:pt x="2516124" y="1442973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7713472" y="575437"/>
              <a:ext cx="2103628" cy="2642868"/>
            </a:xfrm>
            <a:custGeom>
              <a:avLst/>
              <a:gdLst/>
              <a:ahLst/>
              <a:cxnLst/>
              <a:rect l="l" t="t" r="r" b="b"/>
              <a:pathLst>
                <a:path w="2103628" h="2642868">
                  <a:moveTo>
                    <a:pt x="0" y="537717"/>
                  </a:moveTo>
                  <a:lnTo>
                    <a:pt x="116967" y="420623"/>
                  </a:lnTo>
                  <a:lnTo>
                    <a:pt x="537210" y="0"/>
                  </a:lnTo>
                  <a:lnTo>
                    <a:pt x="2103628" y="1567559"/>
                  </a:lnTo>
                  <a:lnTo>
                    <a:pt x="2103628" y="2642867"/>
                  </a:lnTo>
                  <a:lnTo>
                    <a:pt x="1062736" y="1601341"/>
                  </a:lnTo>
                  <a:lnTo>
                    <a:pt x="0" y="537717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7286117" y="1466849"/>
              <a:ext cx="2530983" cy="2748913"/>
            </a:xfrm>
            <a:custGeom>
              <a:avLst/>
              <a:gdLst/>
              <a:ahLst/>
              <a:cxnLst/>
              <a:rect l="l" t="t" r="r" b="b"/>
              <a:pathLst>
                <a:path w="2530983" h="2748913">
                  <a:moveTo>
                    <a:pt x="0" y="216027"/>
                  </a:moveTo>
                  <a:lnTo>
                    <a:pt x="77978" y="137922"/>
                  </a:lnTo>
                  <a:lnTo>
                    <a:pt x="173356" y="42418"/>
                  </a:lnTo>
                  <a:lnTo>
                    <a:pt x="215773" y="0"/>
                  </a:lnTo>
                  <a:lnTo>
                    <a:pt x="1207516" y="992504"/>
                  </a:lnTo>
                  <a:lnTo>
                    <a:pt x="2530983" y="2316859"/>
                  </a:lnTo>
                  <a:lnTo>
                    <a:pt x="2530983" y="2748912"/>
                  </a:lnTo>
                  <a:lnTo>
                    <a:pt x="0" y="216027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8778494" y="66421"/>
              <a:ext cx="1038606" cy="1039367"/>
            </a:xfrm>
            <a:custGeom>
              <a:avLst/>
              <a:gdLst/>
              <a:ahLst/>
              <a:cxnLst/>
              <a:rect l="l" t="t" r="r" b="b"/>
              <a:pathLst>
                <a:path w="1038606" h="1039367">
                  <a:moveTo>
                    <a:pt x="0" y="0"/>
                  </a:moveTo>
                  <a:lnTo>
                    <a:pt x="1038606" y="1039367"/>
                  </a:lnTo>
                  <a:lnTo>
                    <a:pt x="1038606" y="607313"/>
                  </a:lnTo>
                  <a:lnTo>
                    <a:pt x="431673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5827014" y="66421"/>
              <a:ext cx="3066288" cy="2530981"/>
            </a:xfrm>
            <a:custGeom>
              <a:avLst/>
              <a:gdLst/>
              <a:ahLst/>
              <a:cxnLst/>
              <a:rect l="l" t="t" r="r" b="b"/>
              <a:pathLst>
                <a:path w="3066288" h="2530981">
                  <a:moveTo>
                    <a:pt x="0" y="0"/>
                  </a:moveTo>
                  <a:lnTo>
                    <a:pt x="1537208" y="1538350"/>
                  </a:lnTo>
                  <a:lnTo>
                    <a:pt x="2528951" y="2530981"/>
                  </a:lnTo>
                  <a:lnTo>
                    <a:pt x="2624455" y="2435477"/>
                  </a:lnTo>
                  <a:lnTo>
                    <a:pt x="2666873" y="2393059"/>
                  </a:lnTo>
                  <a:lnTo>
                    <a:pt x="2949321" y="2110484"/>
                  </a:lnTo>
                  <a:lnTo>
                    <a:pt x="3066288" y="1993390"/>
                  </a:lnTo>
                  <a:lnTo>
                    <a:pt x="2003551" y="929766"/>
                  </a:lnTo>
                  <a:lnTo>
                    <a:pt x="1074547" y="127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8121142" y="66421"/>
              <a:ext cx="1695958" cy="1697354"/>
            </a:xfrm>
            <a:custGeom>
              <a:avLst/>
              <a:gdLst/>
              <a:ahLst/>
              <a:cxnLst/>
              <a:rect l="l" t="t" r="r" b="b"/>
              <a:pathLst>
                <a:path w="1695958" h="1697354">
                  <a:moveTo>
                    <a:pt x="0" y="0"/>
                  </a:moveTo>
                  <a:lnTo>
                    <a:pt x="1695958" y="1697354"/>
                  </a:lnTo>
                  <a:lnTo>
                    <a:pt x="1695958" y="893190"/>
                  </a:lnTo>
                  <a:lnTo>
                    <a:pt x="80340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4940300" y="66421"/>
              <a:ext cx="4876800" cy="4149722"/>
            </a:xfrm>
            <a:custGeom>
              <a:avLst/>
              <a:gdLst/>
              <a:ahLst/>
              <a:cxnLst/>
              <a:rect l="l" t="t" r="r" b="b"/>
              <a:pathLst>
                <a:path w="4876800" h="4149722">
                  <a:moveTo>
                    <a:pt x="0" y="4149722"/>
                  </a:moveTo>
                  <a:lnTo>
                    <a:pt x="4876800" y="4149722"/>
                  </a:lnTo>
                  <a:lnTo>
                    <a:pt x="4876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896735" y="5839836"/>
              <a:ext cx="2920365" cy="1541779"/>
            </a:xfrm>
            <a:custGeom>
              <a:avLst/>
              <a:gdLst/>
              <a:ahLst/>
              <a:cxnLst/>
              <a:rect l="l" t="t" r="r" b="b"/>
              <a:pathLst>
                <a:path w="2920365" h="1541779">
                  <a:moveTo>
                    <a:pt x="0" y="0"/>
                  </a:moveTo>
                  <a:lnTo>
                    <a:pt x="0" y="1541779"/>
                  </a:lnTo>
                  <a:lnTo>
                    <a:pt x="2920365" y="1541779"/>
                  </a:lnTo>
                  <a:lnTo>
                    <a:pt x="292036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731520" y="2951197"/>
            <a:ext cx="5790362" cy="1803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0000" b="1">
                <a:solidFill>
                  <a:srgbClr val="262262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Thank You </a:t>
            </a:r>
            <a:endParaRPr lang="en-US" sz="10000" b="1">
              <a:solidFill>
                <a:srgbClr val="262262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6774</Words>
  <Application>WPS Presentation</Application>
  <PresentationFormat>On-screen Show (4:3)</PresentationFormat>
  <Paragraphs>305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Oswald Bold</vt:lpstr>
      <vt:lpstr>Oswald</vt:lpstr>
      <vt:lpstr>Poppins</vt:lpstr>
      <vt:lpstr>CanvaSansSC-Regular</vt:lpstr>
      <vt:lpstr>Canva Sans Bold</vt:lpstr>
      <vt:lpstr>Arial</vt:lpstr>
      <vt:lpstr>Arimo</vt:lpstr>
      <vt:lpstr>Poppins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AACIP.pdf</dc:title>
  <dc:creator/>
  <cp:lastModifiedBy>soham</cp:lastModifiedBy>
  <cp:revision>2</cp:revision>
  <dcterms:created xsi:type="dcterms:W3CDTF">2006-08-16T00:00:00Z</dcterms:created>
  <dcterms:modified xsi:type="dcterms:W3CDTF">2026-10-15T02:44:45Z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1BBE000FFA5144D4B73B6C4DCEF5C679_12</vt:lpwstr>
  </property>
  <property fmtid="{D5CDD505-2E9C-101B-9397-08002B2CF9AE}" pid="3" name="KSOProductBuildVer">
    <vt:lpwstr>1033-12.1.0.29162</vt:lpwstr>
  </property>
</Properties>
</file>